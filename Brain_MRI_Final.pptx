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790E38C-9CE1-4DA7-A72B-BB579594EDED}">
  <a:tblStyle styleId="{0790E38C-9CE1-4DA7-A72B-BB579594ED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everyone. Today we'll be presenting our project on brain MRI segmentation and classification using a UNet and VGG16 pipeline.</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group consists of me Muzammil, Mahad and Wasay.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will go over </a:t>
            </a:r>
            <a:r>
              <a:rPr lang="en-US"/>
              <a:t>introduction</a:t>
            </a:r>
            <a:r>
              <a:rPr lang="en-US"/>
              <a:t>, Literature review, </a:t>
            </a:r>
            <a:r>
              <a:rPr lang="en-US"/>
              <a:t>dataset</a:t>
            </a:r>
            <a:r>
              <a:rPr lang="en-US"/>
              <a:t>, </a:t>
            </a:r>
            <a:r>
              <a:rPr lang="en-US"/>
              <a:t>methodology, results and discussion.</a:t>
            </a:r>
            <a:endParaRPr/>
          </a:p>
          <a:p>
            <a:pPr indent="0" lvl="0" marL="0" rtl="0" algn="l">
              <a:spcBef>
                <a:spcPts val="0"/>
              </a:spcBef>
              <a:spcAft>
                <a:spcPts val="0"/>
              </a:spcAft>
              <a:buNone/>
            </a:pPr>
            <a:r>
              <a:rPr lang="en-US"/>
              <a:t>—---------------</a:t>
            </a:r>
            <a:r>
              <a:rPr lang="en-US"/>
              <a:t>—---------------—---------------—---------------—---------------—---------------—---------------—---------------—---------------—---------------—---------------—---------------—---------------—---------------—---------------—---------------—---------------</a:t>
            </a:r>
            <a:endParaRPr/>
          </a:p>
          <a:p>
            <a:pPr indent="0" lvl="0" marL="0" rtl="0" algn="l">
              <a:spcBef>
                <a:spcPts val="0"/>
              </a:spcBef>
              <a:spcAft>
                <a:spcPts val="0"/>
              </a:spcAft>
              <a:buNone/>
            </a:pPr>
            <a:r>
              <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Brain tumors are one of the most life-threatening forms of cancer, and accurate diagnosis from MRI is critical for effective treatment planning. MRI is the standard imaging modality because of its detailed soft-tissue contrast — but the analysis side is still mostly manual. A neuroradiologist has to look at the scans, mark out the tumor, and decide what type it is. That's slow, expensive, and subjective — two experts can disagree on where the tumor boundary actually is, especially when contrast is low. Our goal was to build an automated pipeline that does both jobs: it localizes the tumor pixel-by-pixel using U-Net, and then classifies the tumor type using VGG16, across four categories — glioma, meningioma, pituitary, and no tumor.</a:t>
            </a:r>
            <a:endParaRPr/>
          </a:p>
        </p:txBody>
      </p:sp>
      <p:sp>
        <p:nvSpPr>
          <p:cNvPr id="100" name="Google Shape;10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 of the ten papers we reviewed in our report, four really stand out as the ones that directly shaped our approach. Paper 1 is the original U-Net by Ronneberger from 2015 — this is the foundation of pretty much all modern biomedical segmentation. The encoder-decoder shape with skip connections is exactly what we use. Paper 2 is Arafat et al. — this is our reference paper. They combined U-Net segmentation with a CNN classifier on brain MRI and reported very strong numbers, Dice of 0.94 and around 99% classification accuracy. We benchmark ourselves against them throughout the talk. Paper 3 is the fine-tuned VGG16 paper — they showed transfer learning from ImageNet works really well for the same four-class brain tumor problem we're tackling, hitting 95% accuracy. That's why we picked VGG16 for our classifier. And paper 4 — the SAM plus VGG16 pipeline — is interesting because it validates the broader idea of combining segmentation and classification in a single pipeline, which is exactly the architecture we built.</a:t>
            </a:r>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Let’s talk about the data.</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train our deep learning models, we used a dataset sourced from Kaggle.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dataset is called </a:t>
            </a:r>
            <a:r>
              <a:rPr b="1" lang="en-US" sz="1100">
                <a:latin typeface="Arial"/>
                <a:ea typeface="Arial"/>
                <a:cs typeface="Arial"/>
                <a:sym typeface="Arial"/>
              </a:rPr>
              <a:t>BRISC 2025</a:t>
            </a:r>
            <a:r>
              <a:rPr lang="en-US" sz="1100">
                <a:latin typeface="Arial"/>
                <a:ea typeface="Arial"/>
                <a:cs typeface="Arial"/>
                <a:sym typeface="Arial"/>
              </a:rPr>
              <a:t>, which stands for </a:t>
            </a:r>
            <a:r>
              <a:rPr i="1" lang="en-US" sz="1100">
                <a:latin typeface="Arial"/>
                <a:ea typeface="Arial"/>
                <a:cs typeface="Arial"/>
                <a:sym typeface="Arial"/>
              </a:rPr>
              <a:t>Brain Tumor Reference Image Set for Classification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chose this dataset because it is publicly available and well-curated, making it reliable for research and model training.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It really convenient because it comes </a:t>
            </a:r>
            <a:r>
              <a:rPr b="1" lang="en-US" sz="1100">
                <a:latin typeface="Arial"/>
                <a:ea typeface="Arial"/>
                <a:cs typeface="Arial"/>
                <a:sym typeface="Arial"/>
              </a:rPr>
              <a:t>pre-split</a:t>
            </a:r>
            <a:r>
              <a:rPr lang="en-US" sz="1100">
                <a:latin typeface="Arial"/>
                <a:ea typeface="Arial"/>
                <a:cs typeface="Arial"/>
                <a:sym typeface="Arial"/>
              </a:rPr>
              <a:t> for both classification and segmentation tasks.</a:t>
            </a:r>
            <a:br>
              <a:rPr lang="en-US" sz="1100">
                <a:latin typeface="Arial"/>
                <a:ea typeface="Arial"/>
                <a:cs typeface="Arial"/>
                <a:sym typeface="Arial"/>
              </a:rPr>
            </a:br>
            <a:r>
              <a:rPr lang="en-US" sz="1100">
                <a:latin typeface="Arial"/>
                <a:ea typeface="Arial"/>
                <a:cs typeface="Arial"/>
                <a:sym typeface="Arial"/>
              </a:rPr>
              <a:t>Additionally, the data is subdivided into </a:t>
            </a:r>
            <a:r>
              <a:rPr b="1" lang="en-US" sz="1100">
                <a:latin typeface="Arial"/>
                <a:ea typeface="Arial"/>
                <a:cs typeface="Arial"/>
                <a:sym typeface="Arial"/>
              </a:rPr>
              <a:t>training and validation sets. </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right, you can see the full file directory structure.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total, the dataset contains </a:t>
            </a:r>
            <a:r>
              <a:rPr b="1" lang="en-US" sz="1100">
                <a:latin typeface="Arial"/>
                <a:ea typeface="Arial"/>
                <a:cs typeface="Arial"/>
                <a:sym typeface="Arial"/>
              </a:rPr>
              <a:t>over 10,000 MRI images</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Looking at the classification </a:t>
            </a:r>
            <a:r>
              <a:rPr lang="en-US"/>
              <a:t>position</a:t>
            </a:r>
            <a:r>
              <a:rPr lang="en-US"/>
              <a:t> of our dataset, There are 6,000 images. </a:t>
            </a:r>
            <a:endParaRPr/>
          </a:p>
          <a:p>
            <a:pPr indent="-317500" lvl="0" marL="457200" rtl="0" algn="l">
              <a:spcBef>
                <a:spcPts val="0"/>
              </a:spcBef>
              <a:spcAft>
                <a:spcPts val="0"/>
              </a:spcAft>
              <a:buSzPts val="1400"/>
              <a:buChar char="-"/>
            </a:pPr>
            <a:r>
              <a:rPr lang="en-US"/>
              <a:t>S</a:t>
            </a:r>
            <a:r>
              <a:rPr lang="en-US"/>
              <a:t>plit 5,000 for training and 1,000 for testing, across 4 tumor classes.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950">
                <a:solidFill>
                  <a:srgbClr val="1E293B"/>
                </a:solidFill>
                <a:latin typeface="Consolas"/>
                <a:ea typeface="Consolas"/>
                <a:cs typeface="Consolas"/>
                <a:sym typeface="Consolas"/>
              </a:rPr>
              <a:t>glioma/    </a:t>
            </a:r>
            <a:endParaRPr sz="950"/>
          </a:p>
          <a:p>
            <a:pPr indent="0" lvl="0" marL="0" rtl="0" algn="l">
              <a:spcBef>
                <a:spcPts val="0"/>
              </a:spcBef>
              <a:spcAft>
                <a:spcPts val="0"/>
              </a:spcAft>
              <a:buNone/>
            </a:pPr>
            <a:r>
              <a:rPr lang="en-US" sz="950">
                <a:solidFill>
                  <a:srgbClr val="1E293B"/>
                </a:solidFill>
                <a:latin typeface="Consolas"/>
                <a:ea typeface="Consolas"/>
                <a:cs typeface="Consolas"/>
                <a:sym typeface="Consolas"/>
              </a:rPr>
              <a:t>            meningioma/   </a:t>
            </a:r>
            <a:endParaRPr sz="950"/>
          </a:p>
          <a:p>
            <a:pPr indent="0" lvl="0" marL="0" rtl="0" algn="l">
              <a:spcBef>
                <a:spcPts val="0"/>
              </a:spcBef>
              <a:spcAft>
                <a:spcPts val="0"/>
              </a:spcAft>
              <a:buNone/>
            </a:pPr>
            <a:r>
              <a:rPr lang="en-US" sz="950">
                <a:solidFill>
                  <a:srgbClr val="1E293B"/>
                </a:solidFill>
                <a:latin typeface="Consolas"/>
                <a:ea typeface="Consolas"/>
                <a:cs typeface="Consolas"/>
                <a:sym typeface="Consolas"/>
              </a:rPr>
              <a:t>            no_tumor/   </a:t>
            </a:r>
            <a:endParaRPr sz="950"/>
          </a:p>
          <a:p>
            <a:pPr indent="0" lvl="0" marL="0" rtl="0" algn="l">
              <a:spcBef>
                <a:spcPts val="0"/>
              </a:spcBef>
              <a:spcAft>
                <a:spcPts val="0"/>
              </a:spcAft>
              <a:buNone/>
            </a:pPr>
            <a:r>
              <a:rPr lang="en-US" sz="950">
                <a:solidFill>
                  <a:srgbClr val="1E293B"/>
                </a:solidFill>
                <a:latin typeface="Consolas"/>
                <a:ea typeface="Consolas"/>
                <a:cs typeface="Consolas"/>
                <a:sym typeface="Consolas"/>
              </a:rPr>
              <a:t>            pituitary/</a:t>
            </a:r>
            <a:endParaRPr sz="950">
              <a:solidFill>
                <a:srgbClr val="1E293B"/>
              </a:solidFill>
              <a:latin typeface="Consolas"/>
              <a:ea typeface="Consolas"/>
              <a:cs typeface="Consolas"/>
              <a:sym typeface="Consolas"/>
            </a:endParaRPr>
          </a:p>
          <a:p>
            <a:pPr indent="0" lvl="0" marL="0" rtl="0" algn="l">
              <a:spcBef>
                <a:spcPts val="0"/>
              </a:spcBef>
              <a:spcAft>
                <a:spcPts val="0"/>
              </a:spcAft>
              <a:buNone/>
            </a:pPr>
            <a:r>
              <a:t/>
            </a:r>
            <a:endParaRPr sz="950">
              <a:solidFill>
                <a:srgbClr val="1E293B"/>
              </a:solidFill>
              <a:latin typeface="Consolas"/>
              <a:ea typeface="Consolas"/>
              <a:cs typeface="Consolas"/>
              <a:sym typeface="Consolas"/>
            </a:endParaRPr>
          </a:p>
          <a:p>
            <a:pPr indent="-317500" lvl="0" marL="457200" rtl="0" algn="l">
              <a:spcBef>
                <a:spcPts val="0"/>
              </a:spcBef>
              <a:spcAft>
                <a:spcPts val="0"/>
              </a:spcAft>
              <a:buSzPts val="1400"/>
              <a:buChar char="-"/>
            </a:pPr>
            <a:r>
              <a:rPr lang="en-US"/>
              <a:t>Looking at the table on the left, you can see the per-class breakdown.</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Now, let’s focus on the segmentation data.</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portion of the dataset contains </a:t>
            </a:r>
            <a:r>
              <a:rPr b="1" lang="en-US" sz="1100">
                <a:latin typeface="Arial"/>
                <a:ea typeface="Arial"/>
                <a:cs typeface="Arial"/>
                <a:sym typeface="Arial"/>
              </a:rPr>
              <a:t>4,793 samples</a:t>
            </a:r>
            <a:r>
              <a:rPr lang="en-US" sz="1100">
                <a:latin typeface="Arial"/>
                <a:ea typeface="Arial"/>
                <a:cs typeface="Arial"/>
                <a:sym typeface="Arial"/>
              </a:rPr>
              <a:t> in total.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Out of these, </a:t>
            </a:r>
            <a:r>
              <a:rPr b="1" lang="en-US" sz="1100">
                <a:latin typeface="Arial"/>
                <a:ea typeface="Arial"/>
                <a:cs typeface="Arial"/>
                <a:sym typeface="Arial"/>
              </a:rPr>
              <a:t>3,933 are used for training</a:t>
            </a:r>
            <a:r>
              <a:rPr lang="en-US" sz="1100">
                <a:latin typeface="Arial"/>
                <a:ea typeface="Arial"/>
                <a:cs typeface="Arial"/>
                <a:sym typeface="Arial"/>
              </a:rPr>
              <a:t> and </a:t>
            </a:r>
            <a:r>
              <a:rPr b="1" lang="en-US" sz="1100">
                <a:latin typeface="Arial"/>
                <a:ea typeface="Arial"/>
                <a:cs typeface="Arial"/>
                <a:sym typeface="Arial"/>
              </a:rPr>
              <a:t>860 for testing</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key distinction in this dataset is that each MRI image is paired with a </a:t>
            </a:r>
            <a:r>
              <a:rPr b="1" lang="en-US" sz="1100">
                <a:latin typeface="Arial"/>
                <a:ea typeface="Arial"/>
                <a:cs typeface="Arial"/>
                <a:sym typeface="Arial"/>
              </a:rPr>
              <a:t>binary mask</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This mask serves as the </a:t>
            </a:r>
            <a:r>
              <a:rPr b="1" lang="en-US" sz="1100">
                <a:latin typeface="Arial"/>
                <a:ea typeface="Arial"/>
                <a:cs typeface="Arial"/>
                <a:sym typeface="Arial"/>
              </a:rPr>
              <a:t>ground truth</a:t>
            </a:r>
            <a:r>
              <a:rPr lang="en-US" sz="1100">
                <a:latin typeface="Arial"/>
                <a:ea typeface="Arial"/>
                <a:cs typeface="Arial"/>
                <a:sym typeface="Arial"/>
              </a:rPr>
              <a:t>, indicating exactly where the tumor is located.</a:t>
            </a:r>
            <a:br>
              <a:rPr lang="en-US" sz="1100">
                <a:latin typeface="Arial"/>
                <a:ea typeface="Arial"/>
                <a:cs typeface="Arial"/>
                <a:sym typeface="Arial"/>
              </a:rPr>
            </a:br>
            <a:r>
              <a:rPr lang="en-US" sz="1100">
                <a:latin typeface="Arial"/>
                <a:ea typeface="Arial"/>
                <a:cs typeface="Arial"/>
                <a:sym typeface="Arial"/>
              </a:rPr>
              <a:t> In other words, it tells the model which pixels belong to the tumor and which belong to the surrounding brain tissue.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After data processing, we will have 1:1 image to mask ratio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left, you can see an example:</a:t>
            </a:r>
            <a:br>
              <a:rPr lang="en-US" sz="1100">
                <a:latin typeface="Arial"/>
                <a:ea typeface="Arial"/>
                <a:cs typeface="Arial"/>
                <a:sym typeface="Arial"/>
              </a:rPr>
            </a:br>
            <a:r>
              <a:rPr lang="en-US" sz="1100">
                <a:latin typeface="Arial"/>
                <a:ea typeface="Arial"/>
                <a:cs typeface="Arial"/>
                <a:sym typeface="Arial"/>
              </a:rPr>
              <a:t> the original MRI scan, the corresponding ground-truth mask in the middle. </a:t>
            </a:r>
            <a:br>
              <a:rPr lang="en-US"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Our deep learning model to capture image segmentation is called is U-Net. </a:t>
            </a:r>
            <a:endParaRPr/>
          </a:p>
          <a:p>
            <a:pPr indent="-317500" lvl="0" marL="457200" rtl="0" algn="l">
              <a:spcBef>
                <a:spcPts val="0"/>
              </a:spcBef>
              <a:spcAft>
                <a:spcPts val="0"/>
              </a:spcAft>
              <a:buSzPts val="1400"/>
              <a:buChar char="-"/>
            </a:pPr>
            <a:r>
              <a:rPr lang="en-US"/>
              <a:t>The same one mentioned previously from the foundational 2015 paper.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US"/>
              <a:t>It works in two main stages:</a:t>
            </a:r>
            <a:endParaRPr/>
          </a:p>
          <a:p>
            <a:pPr indent="-317500" lvl="1" marL="914400" rtl="0" algn="l">
              <a:spcBef>
                <a:spcPts val="0"/>
              </a:spcBef>
              <a:spcAft>
                <a:spcPts val="0"/>
              </a:spcAft>
              <a:buSzPts val="1400"/>
              <a:buChar char="-"/>
            </a:pPr>
            <a:r>
              <a:rPr lang="en-US"/>
              <a:t>e</a:t>
            </a:r>
            <a:r>
              <a:rPr lang="en-US"/>
              <a:t>ncoder, extract features (such as </a:t>
            </a:r>
            <a:r>
              <a:rPr lang="en-US"/>
              <a:t>shapes and patterns) </a:t>
            </a:r>
            <a:r>
              <a:rPr lang="en-US"/>
              <a:t>and compress the images </a:t>
            </a:r>
            <a:endParaRPr/>
          </a:p>
          <a:p>
            <a:pPr indent="-317500" lvl="1" marL="914400" rtl="0" algn="l">
              <a:spcBef>
                <a:spcPts val="0"/>
              </a:spcBef>
              <a:spcAft>
                <a:spcPts val="0"/>
              </a:spcAft>
              <a:buSzPts val="1400"/>
              <a:buChar char="-"/>
            </a:pPr>
            <a:r>
              <a:rPr lang="en-US"/>
              <a:t>decoder, </a:t>
            </a:r>
            <a:r>
              <a:rPr lang="en-US"/>
              <a:t>expands it back to the original size of the image to produce a pixel-by-pixel mask of the tumour. </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US"/>
              <a:t>What makes U-Net especially effective is its use of skip connections, which pass detailed information from the encoding stage directly to the decoding stage,</a:t>
            </a:r>
            <a:endParaRPr/>
          </a:p>
          <a:p>
            <a:pPr indent="0" lvl="0" marL="457200" rtl="0" algn="l">
              <a:spcBef>
                <a:spcPts val="0"/>
              </a:spcBef>
              <a:spcAft>
                <a:spcPts val="0"/>
              </a:spcAft>
              <a:buNone/>
            </a:pPr>
            <a:r>
              <a:t/>
            </a:r>
            <a:endParaRPr/>
          </a:p>
          <a:p>
            <a:pPr indent="0" lvl="0" marL="457200" rtl="0" algn="l">
              <a:spcBef>
                <a:spcPts val="0"/>
              </a:spcBef>
              <a:spcAft>
                <a:spcPts val="0"/>
              </a:spcAft>
              <a:buNone/>
            </a:pPr>
            <a:r>
              <a:rPr lang="en-US"/>
              <a:t> helping the model retain fine details like edges. In simple terms, it learns the big picture and the small details at the same time, allowing it to accurately outline structures like tumors in medical images.</a:t>
            </a:r>
            <a:endParaRPr/>
          </a:p>
          <a:p>
            <a:pPr indent="0" lvl="0" marL="457200" rtl="0" algn="l">
              <a:spcBef>
                <a:spcPts val="0"/>
              </a:spcBef>
              <a:spcAft>
                <a:spcPts val="0"/>
              </a:spcAft>
              <a:buNone/>
            </a:pPr>
            <a:r>
              <a:t/>
            </a:r>
            <a:endParaRPr/>
          </a:p>
        </p:txBody>
      </p:sp>
      <p:sp>
        <p:nvSpPr>
          <p:cNvPr id="239" name="Google Shape;2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For classification, we used VGG16</a:t>
            </a:r>
            <a:r>
              <a:rPr lang="en-US" sz="1100">
                <a:latin typeface="Arial"/>
                <a:ea typeface="Arial"/>
                <a:cs typeface="Arial"/>
                <a:sym typeface="Arial"/>
              </a:rPr>
              <a:t>, a 16-layer convolutional neural network developed by the Visual Geometry Group at Oxford.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architecture consists of </a:t>
            </a:r>
            <a:r>
              <a:rPr b="1" lang="en-US" sz="1100">
                <a:latin typeface="Arial"/>
                <a:ea typeface="Arial"/>
                <a:cs typeface="Arial"/>
                <a:sym typeface="Arial"/>
              </a:rPr>
              <a:t>13 convolutional layers organized into 5 blocks</a:t>
            </a:r>
            <a:r>
              <a:rPr lang="en-US" sz="1100">
                <a:latin typeface="Arial"/>
                <a:ea typeface="Arial"/>
                <a:cs typeface="Arial"/>
                <a:sym typeface="Arial"/>
              </a:rPr>
              <a:t>, with max-pooling between each block, followed by </a:t>
            </a:r>
            <a:r>
              <a:rPr b="1" lang="en-US" sz="1100">
                <a:latin typeface="Arial"/>
                <a:ea typeface="Arial"/>
                <a:cs typeface="Arial"/>
                <a:sym typeface="Arial"/>
              </a:rPr>
              <a:t>3 fully connected layers</a:t>
            </a:r>
            <a:r>
              <a:rPr lang="en-US" sz="1100">
                <a:latin typeface="Arial"/>
                <a:ea typeface="Arial"/>
                <a:cs typeface="Arial"/>
                <a:sym typeface="Arial"/>
              </a:rPr>
              <a:t> at the end.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Instead of training the model from scratch, we used </a:t>
            </a:r>
            <a:r>
              <a:rPr b="1" lang="en-US" sz="1100">
                <a:latin typeface="Arial"/>
                <a:ea typeface="Arial"/>
                <a:cs typeface="Arial"/>
                <a:sym typeface="Arial"/>
              </a:rPr>
              <a:t>transfer </a:t>
            </a:r>
            <a:r>
              <a:rPr b="1" lang="en-US" sz="1100">
                <a:latin typeface="Arial"/>
                <a:ea typeface="Arial"/>
                <a:cs typeface="Arial"/>
                <a:sym typeface="Arial"/>
              </a:rPr>
              <a:t>learning,</a:t>
            </a:r>
            <a:r>
              <a:rPr lang="en-US" sz="1100">
                <a:latin typeface="Arial"/>
                <a:ea typeface="Arial"/>
                <a:cs typeface="Arial"/>
                <a:sym typeface="Arial"/>
              </a:rPr>
              <a:t> which would be computationally cheaper</a:t>
            </a:r>
            <a:r>
              <a:rPr lang="en-US" sz="1100">
                <a:latin typeface="Arial"/>
                <a:ea typeface="Arial"/>
                <a:cs typeface="Arial"/>
                <a:sym typeface="Arial"/>
              </a:rPr>
              <a:t>.(less prone to overfitting)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Specifically, we loaded </a:t>
            </a:r>
            <a:r>
              <a:rPr b="1" lang="en-US" sz="1100">
                <a:latin typeface="Arial"/>
                <a:ea typeface="Arial"/>
                <a:cs typeface="Arial"/>
                <a:sym typeface="Arial"/>
              </a:rPr>
              <a:t>pretrained weights from PyTorch’s torchvision library</a:t>
            </a:r>
            <a:r>
              <a:rPr lang="en-US" sz="1100">
                <a:latin typeface="Arial"/>
                <a:ea typeface="Arial"/>
                <a:cs typeface="Arial"/>
                <a:sym typeface="Arial"/>
              </a:rPr>
              <a:t> and In our implementation, we had </a:t>
            </a:r>
            <a:r>
              <a:rPr b="1" lang="en-US" sz="1100">
                <a:latin typeface="Arial"/>
                <a:ea typeface="Arial"/>
                <a:cs typeface="Arial"/>
                <a:sym typeface="Arial"/>
              </a:rPr>
              <a:t>frozen the entire convolutional base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only part we modified was the </a:t>
            </a:r>
            <a:r>
              <a:rPr b="1" lang="en-US" sz="1100">
                <a:latin typeface="Arial"/>
                <a:ea typeface="Arial"/>
                <a:cs typeface="Arial"/>
                <a:sym typeface="Arial"/>
              </a:rPr>
              <a:t>final fully connected layer</a:t>
            </a:r>
            <a:r>
              <a:rPr lang="en-US" sz="1100">
                <a:latin typeface="Arial"/>
                <a:ea typeface="Arial"/>
                <a:cs typeface="Arial"/>
                <a:sym typeface="Arial"/>
              </a:rPr>
              <a:t>, which we replaced with a new linear layer that outputs the </a:t>
            </a:r>
            <a:r>
              <a:rPr b="1" lang="en-US" sz="1100">
                <a:latin typeface="Arial"/>
                <a:ea typeface="Arial"/>
                <a:cs typeface="Arial"/>
                <a:sym typeface="Arial"/>
              </a:rPr>
              <a:t>four tumor classes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This approach works well because first few convolutional layers have already learned to detect </a:t>
            </a:r>
            <a:r>
              <a:rPr b="1" lang="en-US" sz="1100">
                <a:latin typeface="Arial"/>
                <a:ea typeface="Arial"/>
                <a:cs typeface="Arial"/>
                <a:sym typeface="Arial"/>
              </a:rPr>
              <a:t>general visual </a:t>
            </a:r>
            <a:r>
              <a:rPr b="1" lang="en-US" sz="1100">
                <a:latin typeface="Arial"/>
                <a:ea typeface="Arial"/>
                <a:cs typeface="Arial"/>
                <a:sym typeface="Arial"/>
              </a:rPr>
              <a:t>patterns</a:t>
            </a:r>
            <a:r>
              <a:rPr b="1" lang="en-US" sz="1100">
                <a:latin typeface="Arial"/>
                <a:ea typeface="Arial"/>
                <a:cs typeface="Arial"/>
                <a:sym typeface="Arial"/>
              </a:rPr>
              <a:t> </a:t>
            </a:r>
            <a:r>
              <a:rPr lang="en-US" sz="1100">
                <a:latin typeface="Arial"/>
                <a:ea typeface="Arial"/>
                <a:cs typeface="Arial"/>
                <a:sym typeface="Arial"/>
              </a:rPr>
              <a:t>such as edges, textures, and shapes —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are features that transfer effectively to our medical images.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preprocessing, we </a:t>
            </a:r>
            <a:r>
              <a:rPr b="1" lang="en-US" sz="1100">
                <a:latin typeface="Arial"/>
                <a:ea typeface="Arial"/>
                <a:cs typeface="Arial"/>
                <a:sym typeface="Arial"/>
              </a:rPr>
              <a:t>resized all MRI images to 224×224</a:t>
            </a:r>
            <a:r>
              <a:rPr lang="en-US" sz="1100">
                <a:latin typeface="Arial"/>
                <a:ea typeface="Arial"/>
                <a:cs typeface="Arial"/>
                <a:sym typeface="Arial"/>
              </a:rPr>
              <a:t>, converted them from </a:t>
            </a:r>
            <a:r>
              <a:rPr b="1" lang="en-US" sz="1100">
                <a:latin typeface="Arial"/>
                <a:ea typeface="Arial"/>
                <a:cs typeface="Arial"/>
                <a:sym typeface="Arial"/>
              </a:rPr>
              <a:t>BGR to RGB</a:t>
            </a:r>
            <a:r>
              <a:rPr lang="en-US" sz="1100">
                <a:latin typeface="Arial"/>
                <a:ea typeface="Arial"/>
                <a:cs typeface="Arial"/>
                <a:sym typeface="Arial"/>
              </a:rPr>
              <a:t>, and applied </a:t>
            </a:r>
            <a:r>
              <a:rPr b="1" lang="en-US" sz="1100">
                <a:latin typeface="Arial"/>
                <a:ea typeface="Arial"/>
                <a:cs typeface="Arial"/>
                <a:sym typeface="Arial"/>
              </a:rPr>
              <a:t>ImageNet normalization</a:t>
            </a:r>
            <a:r>
              <a:rPr lang="en-US" sz="1100">
                <a:latin typeface="Arial"/>
                <a:ea typeface="Arial"/>
                <a:cs typeface="Arial"/>
                <a:sym typeface="Arial"/>
              </a:rPr>
              <a:t> so the inputs match what the pretrained model expects.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56" name="Google Shape;25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the U-Net segmentation results. Starting on the left: a Dice coefficient of 0.824 — that means on average our predicted masks have about 82% overlap with the ground truth. The IoU is 0.750, which as we said earlier is always slightly lower than Dice for the same prediction. Binary accuracy is 0.998, but I want to flag that this metric is misleading on its own for segmentation — most pixels in any MRI are background, so even a model that predicts zero tumor everywhere would score very high on pixel accuracy. The Dice and IoU are the numbers that actually matter. Final loss came in at 0.019. On the right you can see one of our prediction examples — the original MRI on the left, the ground-truth mask in the middle, and our prediction on the right. The model captures the overall shape and location of the tumor really well. Where it struggles is at the edges and in low-contrast regions — that's why we land at 0.82 Dice and not 0.95. We think more aggressive preprocessing like skull stripping would close some of that gap.</a:t>
            </a:r>
            <a:endParaRPr/>
          </a:p>
          <a:p>
            <a:pPr indent="0" lvl="0" marL="0" rtl="0" algn="l">
              <a:spcBef>
                <a:spcPts val="0"/>
              </a:spcBef>
              <a:spcAft>
                <a:spcPts val="0"/>
              </a:spcAft>
              <a:buNone/>
            </a:pPr>
            <a:r>
              <a:rPr lang="en-US"/>
              <a:t>_____________________________________________________________________________________________________________</a:t>
            </a:r>
            <a:endParaRPr/>
          </a:p>
          <a:p>
            <a:pPr indent="0" lvl="0" marL="0" rtl="0" algn="l">
              <a:spcBef>
                <a:spcPts val="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trained the model on the </a:t>
            </a:r>
            <a:r>
              <a:rPr b="1" lang="en-US" sz="1100">
                <a:latin typeface="Arial"/>
                <a:ea typeface="Arial"/>
                <a:cs typeface="Arial"/>
                <a:sym typeface="Arial"/>
              </a:rPr>
              <a:t>BRISC 2025 dataset</a:t>
            </a:r>
            <a:r>
              <a:rPr lang="en-US" sz="1100">
                <a:latin typeface="Arial"/>
                <a:ea typeface="Arial"/>
                <a:cs typeface="Arial"/>
                <a:sym typeface="Arial"/>
              </a:rPr>
              <a:t>, using around </a:t>
            </a:r>
            <a:r>
              <a:rPr b="1" lang="en-US" sz="1100">
                <a:latin typeface="Arial"/>
                <a:ea typeface="Arial"/>
                <a:cs typeface="Arial"/>
                <a:sym typeface="Arial"/>
              </a:rPr>
              <a:t>3,500 images for training</a:t>
            </a:r>
            <a:r>
              <a:rPr lang="en-US" sz="1100">
                <a:latin typeface="Arial"/>
                <a:ea typeface="Arial"/>
                <a:cs typeface="Arial"/>
                <a:sym typeface="Arial"/>
              </a:rPr>
              <a:t> and about </a:t>
            </a:r>
            <a:r>
              <a:rPr b="1" lang="en-US" sz="1100">
                <a:latin typeface="Arial"/>
                <a:ea typeface="Arial"/>
                <a:cs typeface="Arial"/>
                <a:sym typeface="Arial"/>
              </a:rPr>
              <a:t>400 for validation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terms of performance, the model achieved a </a:t>
            </a:r>
            <a:r>
              <a:rPr b="1" lang="en-US" sz="1100">
                <a:latin typeface="Arial"/>
                <a:ea typeface="Arial"/>
                <a:cs typeface="Arial"/>
                <a:sym typeface="Arial"/>
              </a:rPr>
              <a:t>Dice coefficient of 0.824</a:t>
            </a:r>
            <a:r>
              <a:rPr lang="en-US" sz="1100">
                <a:latin typeface="Arial"/>
                <a:ea typeface="Arial"/>
                <a:cs typeface="Arial"/>
                <a:sym typeface="Arial"/>
              </a:rPr>
              <a:t> and an </a:t>
            </a:r>
            <a:r>
              <a:rPr b="1" lang="en-US" sz="1100">
                <a:latin typeface="Arial"/>
                <a:ea typeface="Arial"/>
                <a:cs typeface="Arial"/>
                <a:sym typeface="Arial"/>
              </a:rPr>
              <a:t>IoU of 0.750</a:t>
            </a:r>
            <a:r>
              <a:rPr lang="en-US" sz="1100">
                <a:latin typeface="Arial"/>
                <a:ea typeface="Arial"/>
                <a:cs typeface="Arial"/>
                <a:sym typeface="Arial"/>
              </a:rPr>
              <a:t>, which indicates strong overlap between the predicted tumor regions and the ground truth masks.</a:t>
            </a:r>
            <a:br>
              <a:rPr lang="en-US" sz="1100">
                <a:latin typeface="Arial"/>
                <a:ea typeface="Arial"/>
                <a:cs typeface="Arial"/>
                <a:sym typeface="Arial"/>
              </a:rPr>
            </a:br>
            <a:r>
              <a:rPr lang="en-US" sz="1100">
                <a:latin typeface="Arial"/>
                <a:ea typeface="Arial"/>
                <a:cs typeface="Arial"/>
                <a:sym typeface="Arial"/>
              </a:rPr>
              <a:t> It also reached a very high </a:t>
            </a:r>
            <a:r>
              <a:rPr b="1" lang="en-US" sz="1100">
                <a:latin typeface="Arial"/>
                <a:ea typeface="Arial"/>
                <a:cs typeface="Arial"/>
                <a:sym typeface="Arial"/>
              </a:rPr>
              <a:t>binary accuracy of 0.998 (</a:t>
            </a:r>
            <a:r>
              <a:rPr lang="en-US"/>
              <a:t>Binary accuracy is 0.998, but I want to flag that this metric is misleading on its own for segmentation — most pixels in any MRI are background, so even a model that predicts zero tumor everywhere would score very high on pixel accuracy.</a:t>
            </a:r>
            <a:r>
              <a:rPr b="1" lang="en-US" sz="1100">
                <a:latin typeface="Arial"/>
                <a:ea typeface="Arial"/>
                <a:cs typeface="Arial"/>
                <a:sym typeface="Arial"/>
              </a:rPr>
              <a:t>)</a:t>
            </a:r>
            <a:r>
              <a:rPr lang="en-US" sz="1100">
                <a:latin typeface="Arial"/>
                <a:ea typeface="Arial"/>
                <a:cs typeface="Arial"/>
                <a:sym typeface="Arial"/>
              </a:rPr>
              <a:t> with a </a:t>
            </a:r>
            <a:r>
              <a:rPr b="1" lang="en-US" sz="1100">
                <a:latin typeface="Arial"/>
                <a:ea typeface="Arial"/>
                <a:cs typeface="Arial"/>
                <a:sym typeface="Arial"/>
              </a:rPr>
              <a:t>low final loss of 0.019</a:t>
            </a:r>
            <a:r>
              <a:rPr lang="en-US" sz="1100">
                <a:latin typeface="Arial"/>
                <a:ea typeface="Arial"/>
                <a:cs typeface="Arial"/>
                <a:sym typeface="Arial"/>
              </a:rPr>
              <a:t>, showing stable and effective learning.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Looking at the examples below, we can see that the model is able to </a:t>
            </a:r>
            <a:r>
              <a:rPr b="1" lang="en-US" sz="1100">
                <a:latin typeface="Arial"/>
                <a:ea typeface="Arial"/>
                <a:cs typeface="Arial"/>
                <a:sym typeface="Arial"/>
              </a:rPr>
              <a:t>capture the overall shape and location of the tumor quite accurately</a:t>
            </a:r>
            <a:r>
              <a:rPr lang="en-US" sz="1100">
                <a:latin typeface="Arial"/>
                <a:ea typeface="Arial"/>
                <a:cs typeface="Arial"/>
                <a:sym typeface="Arial"/>
              </a:rPr>
              <a:t>, closely matching the ground truth masks.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strong performance is mainly due to the </a:t>
            </a:r>
            <a:r>
              <a:rPr b="1" lang="en-US" sz="1100">
                <a:latin typeface="Arial"/>
                <a:ea typeface="Arial"/>
                <a:cs typeface="Arial"/>
                <a:sym typeface="Arial"/>
              </a:rPr>
              <a:t>U-Net architecture</a:t>
            </a:r>
            <a:r>
              <a:rPr lang="en-US" sz="1100">
                <a:latin typeface="Arial"/>
                <a:ea typeface="Arial"/>
                <a:cs typeface="Arial"/>
                <a:sym typeface="Arial"/>
              </a:rPr>
              <a:t>, which uses skip connections to preserve both spatial and contextual information.</a:t>
            </a:r>
            <a:endParaRPr sz="1100">
              <a:latin typeface="Arial"/>
              <a:ea typeface="Arial"/>
              <a:cs typeface="Arial"/>
              <a:sym typeface="Arial"/>
            </a:endParaRPr>
          </a:p>
          <a:p>
            <a:pPr indent="0" lvl="0" marL="0" rtl="0" algn="l">
              <a:lnSpc>
                <a:spcPct val="115000"/>
              </a:lnSpc>
              <a:spcBef>
                <a:spcPts val="1200"/>
              </a:spcBef>
              <a:spcAft>
                <a:spcPts val="1200"/>
              </a:spcAft>
              <a:buClr>
                <a:schemeClr val="dk1"/>
              </a:buClr>
              <a:buSzPts val="1100"/>
              <a:buFont typeface="Arial"/>
              <a:buNone/>
            </a:pPr>
            <a:r>
              <a:rPr lang="en-US" sz="1100">
                <a:latin typeface="Arial"/>
                <a:ea typeface="Arial"/>
                <a:cs typeface="Arial"/>
                <a:sym typeface="Arial"/>
              </a:rPr>
              <a:t>However, the Dice and IoU scores suggest that there is still </a:t>
            </a:r>
            <a:r>
              <a:rPr b="1" lang="en-US" sz="1100">
                <a:latin typeface="Arial"/>
                <a:ea typeface="Arial"/>
                <a:cs typeface="Arial"/>
                <a:sym typeface="Arial"/>
              </a:rPr>
              <a:t>room for improvement</a:t>
            </a:r>
            <a:r>
              <a:rPr lang="en-US" sz="1100">
                <a:latin typeface="Arial"/>
                <a:ea typeface="Arial"/>
                <a:cs typeface="Arial"/>
                <a:sym typeface="Arial"/>
              </a:rPr>
              <a:t>, especially around </a:t>
            </a:r>
            <a:r>
              <a:rPr b="1" lang="en-US" sz="1100">
                <a:latin typeface="Arial"/>
                <a:ea typeface="Arial"/>
                <a:cs typeface="Arial"/>
                <a:sym typeface="Arial"/>
              </a:rPr>
              <a:t>tumor boundaries and low-contrast regions</a:t>
            </a:r>
            <a:r>
              <a:rPr lang="en-US" sz="1100">
                <a:latin typeface="Arial"/>
                <a:ea typeface="Arial"/>
                <a:cs typeface="Arial"/>
                <a:sym typeface="Arial"/>
              </a:rPr>
              <a:t>, where pixel-level precision becomes more challenging.</a:t>
            </a:r>
            <a:endParaRPr/>
          </a:p>
        </p:txBody>
      </p:sp>
      <p:sp>
        <p:nvSpPr>
          <p:cNvPr id="273" name="Google Shape;2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On the classification side, our overall accuracy on the held-out test set was 93% across all four classes, training for 10 epoch with a final loss of 0.10. According to the bar graph on the right the model performs well interms of F1 score with the no-tumor and pituitary classes. the model slightly struggles with the Glioma and meningioma classes as visually they are very similar in MRI images.  </a:t>
            </a:r>
            <a:endParaRPr/>
          </a:p>
          <a:p>
            <a:pPr indent="0" lvl="0" marL="0" rtl="0" algn="l">
              <a:spcBef>
                <a:spcPts val="0"/>
              </a:spcBef>
              <a:spcAft>
                <a:spcPts val="0"/>
              </a:spcAft>
              <a:buNone/>
            </a:pPr>
            <a:r>
              <a:rPr lang="en-US"/>
              <a:t>—---------------------</a:t>
            </a:r>
            <a:r>
              <a:rPr lang="en-US"/>
              <a:t>—---------------------—---------------------—---------------------—---------------------—---------------------—---------------------—---------------------—---------------------—---------------------—---------------------—---------------------—---------------------</a:t>
            </a:r>
            <a:endParaRPr/>
          </a:p>
          <a:p>
            <a:pPr indent="0" lvl="0" marL="0" rtl="0" algn="l">
              <a:spcBef>
                <a:spcPts val="0"/>
              </a:spcBef>
              <a:spcAft>
                <a:spcPts val="0"/>
              </a:spcAft>
              <a:buNone/>
            </a:pPr>
            <a:r>
              <a:rPr lang="en-US"/>
              <a:t>On the classification side, our overall accuracy on the held-out test set was 93% across all four classes. To give you the training story: over 10 epochs the training accuracy went from 70% in the first epoch up to 97% by the last, and the loss dropped from 1.64 down to 0.10. So the model converged smoothly — it actually learned the </a:t>
            </a:r>
            <a:r>
              <a:rPr lang="en-US"/>
              <a:t>difference between the four tumor types</a:t>
            </a:r>
            <a:r>
              <a:rPr lang="en-US"/>
              <a:t> rather than just memorizing. Looking at the per-class F1 scores on the right, the model did best on no_tumor at 0.98 and pituitary at 0.96 — those two classes are visually quite distinct. Glioma came in at 0.90 with precision around 0.89 and recall around 0.92, which is solid. The hardest class was meningioma at 0.87, with recall around 0.83 — that means about 17% of the actual meningioma cases got confused with other tumor types. This is consistent with what other papers report: meningiomas can look structurally similar to gliomas in some scans. Both the macro-average and weighted-average F1 were 0.93, which tells us the classifier is balanced and not just doing well on one easy class.</a:t>
            </a:r>
            <a:endParaRPr/>
          </a:p>
        </p:txBody>
      </p:sp>
      <p:sp>
        <p:nvSpPr>
          <p:cNvPr id="307" name="Google Shape;30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d58b1849a3_0_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g3d58b1849a3_0_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Here we can see the </a:t>
            </a:r>
            <a:r>
              <a:rPr lang="en-US" sz="1200">
                <a:solidFill>
                  <a:schemeClr val="dk1"/>
                </a:solidFill>
                <a:latin typeface="Calibri"/>
                <a:ea typeface="Calibri"/>
                <a:cs typeface="Calibri"/>
                <a:sym typeface="Calibri"/>
              </a:rPr>
              <a:t>confusion</a:t>
            </a:r>
            <a:r>
              <a:rPr lang="en-US" sz="1200">
                <a:solidFill>
                  <a:schemeClr val="dk1"/>
                </a:solidFill>
                <a:latin typeface="Calibri"/>
                <a:ea typeface="Calibri"/>
                <a:cs typeface="Calibri"/>
                <a:sym typeface="Calibri"/>
              </a:rPr>
              <a:t> matrix of our classification model. </a:t>
            </a:r>
            <a:r>
              <a:rPr lang="en-US" sz="1200">
                <a:solidFill>
                  <a:schemeClr val="dk1"/>
                </a:solidFill>
                <a:latin typeface="Calibri"/>
                <a:ea typeface="Calibri"/>
                <a:cs typeface="Calibri"/>
                <a:sym typeface="Calibri"/>
              </a:rPr>
              <a:t>We can see that most of the values are concentrated along the diagonal, which indicates that the model is correctly classifying the majority of the samples, with only minor confusion between closely related classes.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a:t>
            </a:r>
            <a:r>
              <a:rPr lang="en-US"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Continuing with out classification models performance by looking into the confusion matrix.</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We can see that most of the values are concentrated along the diagonal, which indicates that the model is correctly classifying the majority of the samples.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In particular, the model performs very well on pituitary tumors with 289 correct predictions, and also shows strong performance for glioma, meningioma, and no tumor classes.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However, there are some misclassifications, mainly between glioma and meningioma, which is expected since these tumor types can appear visually similar in MRI images.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Overall, the results demonstrate that the model achieves high classification accuracy, with only minor confusion between closely related classes.</a:t>
            </a:r>
            <a:endParaRPr sz="1200">
              <a:solidFill>
                <a:schemeClr val="dk1"/>
              </a:solidFill>
              <a:latin typeface="Calibri"/>
              <a:ea typeface="Calibri"/>
              <a:cs typeface="Calibri"/>
              <a:sym typeface="Calibri"/>
            </a:endParaRPr>
          </a:p>
        </p:txBody>
      </p:sp>
      <p:sp>
        <p:nvSpPr>
          <p:cNvPr id="328" name="Google Shape;328;g3d58b1849a3_0_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some qualitative outputs from both models. On the left, two more U-Net segmentation examples. You can see the predictions follow the rough shape of the ground truth — the top one captures a small lesion well, and the bottom one follows the boundary of a larger tumor. Where you can spot the model's weaknesses is in the fine details right at the edges. On the right are four VGG16 classification examples. Three of them are correct — the model gets the no_tumor scan, the two pituitary scans — and one is a misclassification: a glioma case that got predicted as meningioma. As I mentioned on the previous slide, meningioma vs. glioma is the hardest distinction for our classifier, and that's exactly the kind of error you see here.</a:t>
            </a:r>
            <a:endParaRPr/>
          </a:p>
        </p:txBody>
      </p:sp>
      <p:sp>
        <p:nvSpPr>
          <p:cNvPr id="349" name="Google Shape;34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d58b1849a3_0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g3d58b1849a3_0_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in terms of </a:t>
            </a:r>
            <a:r>
              <a:rPr lang="en-US" sz="1100">
                <a:solidFill>
                  <a:schemeClr val="dk1"/>
                </a:solidFill>
              </a:rPr>
              <a:t>comparison</a:t>
            </a:r>
            <a:r>
              <a:rPr lang="en-US" sz="1100">
                <a:solidFill>
                  <a:schemeClr val="dk1"/>
                </a:solidFill>
              </a:rPr>
              <a:t> with our reference paper the pipeline fell below the </a:t>
            </a:r>
            <a:r>
              <a:rPr lang="en-US" sz="1100">
                <a:solidFill>
                  <a:schemeClr val="dk1"/>
                </a:solidFill>
              </a:rPr>
              <a:t>reference</a:t>
            </a:r>
            <a:r>
              <a:rPr lang="en-US" sz="1100">
                <a:solidFill>
                  <a:schemeClr val="dk1"/>
                </a:solidFill>
              </a:rPr>
              <a:t> pipeline in Dice, classification accurcays and F1 of 3 out of 4 classes. Our pipeline did exceed the reference in Iou and no_tumor F1 score.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Starting with segmentation, our model achieved a </a:t>
            </a:r>
            <a:r>
              <a:rPr b="1" lang="en-US" sz="1100">
                <a:solidFill>
                  <a:schemeClr val="dk1"/>
                </a:solidFill>
              </a:rPr>
              <a:t>Dice coefficient of 0.824</a:t>
            </a:r>
            <a:r>
              <a:rPr lang="en-US" sz="1100">
                <a:solidFill>
                  <a:schemeClr val="dk1"/>
                </a:solidFill>
              </a:rPr>
              <a:t>, which is slightly lower than the reference value of </a:t>
            </a:r>
            <a:r>
              <a:rPr b="1" lang="en-US" sz="1100">
                <a:solidFill>
                  <a:schemeClr val="dk1"/>
                </a:solidFill>
              </a:rPr>
              <a:t>0.94</a:t>
            </a:r>
            <a:r>
              <a:rPr lang="en-US" sz="1100">
                <a:solidFill>
                  <a:schemeClr val="dk1"/>
                </a:solidFill>
              </a:rPr>
              <a:t>. However, we actually achieved a </a:t>
            </a:r>
            <a:r>
              <a:rPr b="1" lang="en-US" sz="1100">
                <a:solidFill>
                  <a:schemeClr val="dk1"/>
                </a:solidFill>
              </a:rPr>
              <a:t>higher IoU of 0.75 compared to 0.68</a:t>
            </a:r>
            <a:r>
              <a:rPr lang="en-US" sz="1100">
                <a:solidFill>
                  <a:schemeClr val="dk1"/>
                </a:solidFill>
              </a:rPr>
              <a:t>, indicating strong overlap with the ground truth.</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For classification, our model reached an </a:t>
            </a:r>
            <a:r>
              <a:rPr b="1" lang="en-US" sz="1100">
                <a:solidFill>
                  <a:schemeClr val="dk1"/>
                </a:solidFill>
              </a:rPr>
              <a:t>overall accuracy of 93%</a:t>
            </a:r>
            <a:r>
              <a:rPr lang="en-US" sz="1100">
                <a:solidFill>
                  <a:schemeClr val="dk1"/>
                </a:solidFill>
              </a:rPr>
              <a:t>, compared to about </a:t>
            </a:r>
            <a:r>
              <a:rPr b="1" lang="en-US" sz="1100">
                <a:solidFill>
                  <a:schemeClr val="dk1"/>
                </a:solidFill>
              </a:rPr>
              <a:t>99% in the reference paper</a:t>
            </a:r>
            <a:r>
              <a:rPr lang="en-US" sz="1100">
                <a:solidFill>
                  <a:schemeClr val="dk1"/>
                </a:solidFill>
              </a:rPr>
              <a:t>, showing a small performance gap.</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Looking at the </a:t>
            </a:r>
            <a:r>
              <a:rPr b="1" lang="en-US" sz="1100">
                <a:solidFill>
                  <a:schemeClr val="dk1"/>
                </a:solidFill>
              </a:rPr>
              <a:t>class-wise F1 scores</a:t>
            </a:r>
            <a:r>
              <a:rPr lang="en-US" sz="1100">
                <a:solidFill>
                  <a:schemeClr val="dk1"/>
                </a:solidFill>
              </a:rPr>
              <a:t>, our model performs very well on </a:t>
            </a:r>
            <a:r>
              <a:rPr b="1" lang="en-US" sz="1100">
                <a:solidFill>
                  <a:schemeClr val="dk1"/>
                </a:solidFill>
              </a:rPr>
              <a:t>no tumor</a:t>
            </a:r>
            <a:r>
              <a:rPr lang="en-US" sz="1100">
                <a:solidFill>
                  <a:schemeClr val="dk1"/>
                </a:solidFill>
              </a:rPr>
              <a:t>, slightly outperforming the reference. It also shows strong performance on </a:t>
            </a:r>
            <a:r>
              <a:rPr b="1" lang="en-US" sz="1100">
                <a:solidFill>
                  <a:schemeClr val="dk1"/>
                </a:solidFill>
              </a:rPr>
              <a:t>pituitary tumors</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However, the largest gap appears in the </a:t>
            </a:r>
            <a:r>
              <a:rPr b="1" lang="en-US" sz="1100">
                <a:solidFill>
                  <a:schemeClr val="dk1"/>
                </a:solidFill>
              </a:rPr>
              <a:t>meningioma class</a:t>
            </a:r>
            <a:r>
              <a:rPr lang="en-US" sz="1100">
                <a:solidFill>
                  <a:schemeClr val="dk1"/>
                </a:solidFill>
              </a:rPr>
              <a:t>, where classification is more challenging due to similarities with other tumor types. We also see a small drop in </a:t>
            </a:r>
            <a:r>
              <a:rPr b="1" lang="en-US" sz="1100">
                <a:solidFill>
                  <a:schemeClr val="dk1"/>
                </a:solidFill>
              </a:rPr>
              <a:t>glioma performance</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Overall, our model remains </a:t>
            </a:r>
            <a:r>
              <a:rPr b="1" lang="en-US" sz="1100">
                <a:solidFill>
                  <a:schemeClr val="dk1"/>
                </a:solidFill>
              </a:rPr>
              <a:t>competitive</a:t>
            </a:r>
            <a:r>
              <a:rPr lang="en-US" sz="1100">
                <a:solidFill>
                  <a:schemeClr val="dk1"/>
                </a:solidFill>
              </a:rPr>
              <a:t>, with strong segmentation overlap and balanced classification performance, while highlighting areas for improvement in more difficult tumor classes.</a:t>
            </a:r>
            <a:endParaRPr sz="1100">
              <a:solidFill>
                <a:schemeClr val="dk1"/>
              </a:solidFill>
            </a:endParaRPr>
          </a:p>
          <a:p>
            <a:pPr indent="0" lvl="0" marL="0" marR="0" rtl="0" algn="l">
              <a:spcBef>
                <a:spcPts val="1200"/>
              </a:spcBef>
              <a:spcAft>
                <a:spcPts val="0"/>
              </a:spcAft>
              <a:buNone/>
            </a:pPr>
            <a:r>
              <a:t/>
            </a:r>
            <a:endParaRPr sz="1200">
              <a:solidFill>
                <a:schemeClr val="dk1"/>
              </a:solidFill>
              <a:latin typeface="Calibri"/>
              <a:ea typeface="Calibri"/>
              <a:cs typeface="Calibri"/>
              <a:sym typeface="Calibri"/>
            </a:endParaRPr>
          </a:p>
        </p:txBody>
      </p:sp>
      <p:sp>
        <p:nvSpPr>
          <p:cNvPr id="368" name="Google Shape;368;g3d58b1849a3_0_5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d58b1849a3_0_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g3d58b1849a3_0_7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1200">
                <a:solidFill>
                  <a:schemeClr val="dk1"/>
                </a:solidFill>
                <a:latin typeface="Calibri"/>
                <a:ea typeface="Calibri"/>
                <a:cs typeface="Calibri"/>
                <a:sym typeface="Calibri"/>
              </a:rPr>
              <a:t>In terms of </a:t>
            </a:r>
            <a:r>
              <a:rPr lang="en-US" sz="1200">
                <a:solidFill>
                  <a:schemeClr val="dk1"/>
                </a:solidFill>
                <a:latin typeface="Calibri"/>
                <a:ea typeface="Calibri"/>
                <a:cs typeface="Calibri"/>
                <a:sym typeface="Calibri"/>
              </a:rPr>
              <a:t>reasons</a:t>
            </a:r>
            <a:r>
              <a:rPr lang="en-US" sz="1200">
                <a:solidFill>
                  <a:schemeClr val="dk1"/>
                </a:solidFill>
                <a:latin typeface="Calibri"/>
                <a:ea typeface="Calibri"/>
                <a:cs typeface="Calibri"/>
                <a:sym typeface="Calibri"/>
              </a:rPr>
              <a:t> why we fell short of the reference paper:</a:t>
            </a:r>
            <a:r>
              <a:rPr lang="en-US" sz="1200">
                <a:solidFill>
                  <a:schemeClr val="dk1"/>
                </a:solidFill>
                <a:latin typeface="Calibri"/>
                <a:ea typeface="Calibri"/>
                <a:cs typeface="Calibri"/>
                <a:sym typeface="Calibri"/>
              </a:rPr>
              <a:t> first, preprocessing — they applied skull stripping, where you remove the non-brain tissue from the MRI before training, plus region-of-interest extraction. We just did resize and normalization. That extra preprocessing reduces noise and class imbalance and is probably the biggest single factor. Second, training duration — we trained for a limited number of epochs and didn't do extensive hyperparameter tuning. Third, model choice — they used a custom CNN trained directly on segmented tumor regions, while we used a frozen pretrained VGG16. Unfreezing more layers and fine-tuning would likely close some of the classification gap.</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82" name="Google Shape;382;g3d58b1849a3_0_7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7" name="Google Shape;40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the findings: U-Net successfully segmented the tumor regions with a Dice of 0.82 and an IoU of 0.75. The VGG16 reached 93% accuracy across the four tumor classes, showing the classifier can reliably distinguish between them. The combined pipeline confirms our main hypothesis — that joint segmentation plus classification is a powerful approach for automated brain tumor analysis. For future work, the obvious next steps are the ones we just talked about on the comparison slide. First, add skull stripping and ROI extraction to the preprocessing pipeline — that's the single biggest improvement we could make. Second, apply data augmentation like rotation, flips, and elastic deformations to increase robustness. Third, fine-tune the deeper layers of VGG16 instead of freezing the entire base — that gives the model more capacity to specialize on MRI features. Fourth, try attention-augmented U-Net variants like CBAM that we saw in the literature review. And finally, train for more epochs with proper hyperparameter tuning.</a:t>
            </a:r>
            <a:endParaRPr/>
          </a:p>
        </p:txBody>
      </p:sp>
      <p:sp>
        <p:nvSpPr>
          <p:cNvPr id="408" name="Google Shape;40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brings us to the end. Thanks for listening — happy to take any questions about the dataset, the model architectures, the metrics, or how we'd improve on this in a follow-up project.</a:t>
            </a:r>
            <a:endParaRPr/>
          </a:p>
        </p:txBody>
      </p:sp>
      <p:sp>
        <p:nvSpPr>
          <p:cNvPr id="428" name="Google Shape;42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2.png"/><Relationship Id="rId5"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17" name="Shape 17"/>
        <p:cNvGrpSpPr/>
        <p:nvPr/>
      </p:nvGrpSpPr>
      <p:grpSpPr>
        <a:xfrm>
          <a:off x="0" y="0"/>
          <a:ext cx="0" cy="0"/>
          <a:chOff x="0" y="0"/>
          <a:chExt cx="0" cy="0"/>
        </a:xfrm>
      </p:grpSpPr>
      <p:sp>
        <p:nvSpPr>
          <p:cNvPr id="18" name="Google Shape;18;p5"/>
          <p:cNvSpPr/>
          <p:nvPr/>
        </p:nvSpPr>
        <p:spPr>
          <a:xfrm>
            <a:off x="0" y="0"/>
            <a:ext cx="457200" cy="68580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5"/>
          <p:cNvSpPr/>
          <p:nvPr/>
        </p:nvSpPr>
        <p:spPr>
          <a:xfrm>
            <a:off x="8686800" y="-1828800"/>
            <a:ext cx="5486400" cy="5486400"/>
          </a:xfrm>
          <a:prstGeom prst="ellipse">
            <a:avLst/>
          </a:prstGeom>
          <a:solidFill>
            <a:srgbClr val="065A82">
              <a:alpha val="40000"/>
            </a:srgbClr>
          </a:solidFill>
          <a:ln cap="flat" cmpd="sng" w="12700">
            <a:solidFill>
              <a:srgbClr val="065A82">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5"/>
          <p:cNvSpPr/>
          <p:nvPr/>
        </p:nvSpPr>
        <p:spPr>
          <a:xfrm>
            <a:off x="10058400" y="3657600"/>
            <a:ext cx="4114800" cy="4114800"/>
          </a:xfrm>
          <a:prstGeom prst="ellipse">
            <a:avLst/>
          </a:prstGeom>
          <a:solidFill>
            <a:srgbClr val="1C7293">
              <a:alpha val="30196"/>
            </a:srgbClr>
          </a:solidFill>
          <a:ln cap="flat" cmpd="sng" w="12700">
            <a:solidFill>
              <a:srgbClr val="1C7293">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914400" y="14630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300"/>
              <a:buFont typeface="Calibri"/>
              <a:buNone/>
            </a:pPr>
            <a:r>
              <a:rPr b="1" i="0" lang="en-US" sz="1300" u="none" cap="none" strike="noStrike">
                <a:solidFill>
                  <a:srgbClr val="00C2A8"/>
                </a:solidFill>
                <a:latin typeface="Calibri"/>
                <a:ea typeface="Calibri"/>
                <a:cs typeface="Calibri"/>
                <a:sym typeface="Calibri"/>
              </a:rPr>
              <a:t>RESEARCH PROJECT  •  INTELLIGENT SYSTEMS</a:t>
            </a:r>
            <a:endParaRPr b="0" i="0" sz="1300" u="none" cap="none" strike="noStrike">
              <a:solidFill>
                <a:schemeClr val="dk1"/>
              </a:solidFill>
              <a:latin typeface="Calibri"/>
              <a:ea typeface="Calibri"/>
              <a:cs typeface="Calibri"/>
              <a:sym typeface="Calibri"/>
            </a:endParaRPr>
          </a:p>
        </p:txBody>
      </p:sp>
      <p:sp>
        <p:nvSpPr>
          <p:cNvPr id="22" name="Google Shape;22;p5"/>
          <p:cNvSpPr/>
          <p:nvPr/>
        </p:nvSpPr>
        <p:spPr>
          <a:xfrm>
            <a:off x="914400" y="1920240"/>
            <a:ext cx="10058400" cy="2011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000"/>
              <a:buFont typeface="Georgia"/>
              <a:buNone/>
            </a:pPr>
            <a:r>
              <a:rPr b="1" i="0" lang="en-US" sz="5000" u="none" cap="none" strike="noStrike">
                <a:solidFill>
                  <a:srgbClr val="FFFFFF"/>
                </a:solidFill>
                <a:latin typeface="Georgia"/>
                <a:ea typeface="Georgia"/>
                <a:cs typeface="Georgia"/>
                <a:sym typeface="Georgia"/>
              </a:rPr>
              <a:t>Brain MRI Segmentation</a:t>
            </a:r>
            <a:endParaRPr b="0" i="0" sz="5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000"/>
              <a:buFont typeface="Georgia"/>
              <a:buNone/>
            </a:pPr>
            <a:r>
              <a:rPr b="1" i="0" lang="en-US" sz="5000" u="none" cap="none" strike="noStrike">
                <a:solidFill>
                  <a:srgbClr val="FFFFFF"/>
                </a:solidFill>
                <a:latin typeface="Georgia"/>
                <a:ea typeface="Georgia"/>
                <a:cs typeface="Georgia"/>
                <a:sym typeface="Georgia"/>
              </a:rPr>
              <a:t>and Classification</a:t>
            </a:r>
            <a:endParaRPr b="0" i="0" sz="5000" u="none" cap="none" strike="noStrike">
              <a:solidFill>
                <a:schemeClr val="dk1"/>
              </a:solidFill>
              <a:latin typeface="Calibri"/>
              <a:ea typeface="Calibri"/>
              <a:cs typeface="Calibri"/>
              <a:sym typeface="Calibri"/>
            </a:endParaRPr>
          </a:p>
        </p:txBody>
      </p:sp>
      <p:sp>
        <p:nvSpPr>
          <p:cNvPr id="23" name="Google Shape;23;p5"/>
          <p:cNvSpPr/>
          <p:nvPr/>
        </p:nvSpPr>
        <p:spPr>
          <a:xfrm>
            <a:off x="914400" y="4023360"/>
            <a:ext cx="10058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1700"/>
              <a:buFont typeface="Calibri"/>
              <a:buNone/>
            </a:pPr>
            <a:r>
              <a:rPr b="0" i="0" lang="en-US" sz="1700" u="none" cap="none" strike="noStrike">
                <a:solidFill>
                  <a:srgbClr val="E6F1F7"/>
                </a:solidFill>
                <a:latin typeface="Calibri"/>
                <a:ea typeface="Calibri"/>
                <a:cs typeface="Calibri"/>
                <a:sym typeface="Calibri"/>
              </a:rPr>
              <a:t>A deep learning pipeline combining U-Net and VGG16 for tumor</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F1F7"/>
              </a:buClr>
              <a:buSzPts val="1700"/>
              <a:buFont typeface="Calibri"/>
              <a:buNone/>
            </a:pPr>
            <a:r>
              <a:rPr b="0" i="0" lang="en-US" sz="1700" u="none" cap="none" strike="noStrike">
                <a:solidFill>
                  <a:srgbClr val="E6F1F7"/>
                </a:solidFill>
                <a:latin typeface="Calibri"/>
                <a:ea typeface="Calibri"/>
                <a:cs typeface="Calibri"/>
                <a:sym typeface="Calibri"/>
              </a:rPr>
              <a:t>localization and four-class diagnosis on the BRISC 2025 dataset.</a:t>
            </a:r>
            <a:endParaRPr b="0" i="0" sz="1700" u="none" cap="none" strike="noStrike">
              <a:solidFill>
                <a:schemeClr val="dk1"/>
              </a:solidFill>
              <a:latin typeface="Calibri"/>
              <a:ea typeface="Calibri"/>
              <a:cs typeface="Calibri"/>
              <a:sym typeface="Calibri"/>
            </a:endParaRPr>
          </a:p>
        </p:txBody>
      </p:sp>
      <p:sp>
        <p:nvSpPr>
          <p:cNvPr id="24" name="Google Shape;24;p5"/>
          <p:cNvSpPr/>
          <p:nvPr/>
        </p:nvSpPr>
        <p:spPr>
          <a:xfrm>
            <a:off x="914400" y="5394960"/>
            <a:ext cx="54864"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p:nvPr/>
        </p:nvSpPr>
        <p:spPr>
          <a:xfrm>
            <a:off x="1097280" y="54406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Department of Electrical and Computer Engineering</a:t>
            </a:r>
            <a:endParaRPr b="0" i="0" sz="1400" u="none" cap="none" strike="noStrike">
              <a:solidFill>
                <a:schemeClr val="dk1"/>
              </a:solidFill>
              <a:latin typeface="Calibri"/>
              <a:ea typeface="Calibri"/>
              <a:cs typeface="Calibri"/>
              <a:sym typeface="Calibri"/>
            </a:endParaRPr>
          </a:p>
        </p:txBody>
      </p:sp>
      <p:sp>
        <p:nvSpPr>
          <p:cNvPr id="26" name="Google Shape;26;p5"/>
          <p:cNvSpPr/>
          <p:nvPr/>
        </p:nvSpPr>
        <p:spPr>
          <a:xfrm>
            <a:off x="1097280" y="580644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1200"/>
              <a:buFont typeface="Calibri"/>
              <a:buNone/>
            </a:pPr>
            <a:r>
              <a:rPr b="0" i="0" lang="en-US" sz="1200" u="none" cap="none" strike="noStrike">
                <a:solidFill>
                  <a:srgbClr val="E6F1F7"/>
                </a:solidFill>
                <a:latin typeface="Calibri"/>
                <a:ea typeface="Calibri"/>
                <a:cs typeface="Calibri"/>
                <a:sym typeface="Calibri"/>
              </a:rPr>
              <a:t>Toronto Metropolitan University  •  Toronto, ON, Canada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 name="Shape 31"/>
        <p:cNvGrpSpPr/>
        <p:nvPr/>
      </p:nvGrpSpPr>
      <p:grpSpPr>
        <a:xfrm>
          <a:off x="0" y="0"/>
          <a:ext cx="0" cy="0"/>
          <a:chOff x="0" y="0"/>
          <a:chExt cx="0" cy="0"/>
        </a:xfrm>
      </p:grpSpPr>
      <p:sp>
        <p:nvSpPr>
          <p:cNvPr id="32" name="Google Shape;32;p6"/>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MEET THE TEAM</a:t>
            </a:r>
            <a:endParaRPr b="0" i="0" sz="1200" u="none" cap="none" strike="noStrike">
              <a:solidFill>
                <a:schemeClr val="dk1"/>
              </a:solidFill>
              <a:latin typeface="Calibri"/>
              <a:ea typeface="Calibri"/>
              <a:cs typeface="Calibri"/>
              <a:sym typeface="Calibri"/>
            </a:endParaRPr>
          </a:p>
        </p:txBody>
      </p:sp>
      <p:sp>
        <p:nvSpPr>
          <p:cNvPr id="34" name="Google Shape;34;p6"/>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Who We Are</a:t>
            </a:r>
            <a:endParaRPr b="0" i="0" sz="3200" u="none" cap="none" strike="noStrike">
              <a:solidFill>
                <a:schemeClr val="dk1"/>
              </a:solidFill>
              <a:latin typeface="Calibri"/>
              <a:ea typeface="Calibri"/>
              <a:cs typeface="Calibri"/>
              <a:sym typeface="Calibri"/>
            </a:endParaRPr>
          </a:p>
        </p:txBody>
      </p:sp>
      <p:sp>
        <p:nvSpPr>
          <p:cNvPr id="35" name="Google Shape;35;p6"/>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a:off x="460938" y="2881200"/>
            <a:ext cx="3604800" cy="1095600"/>
          </a:xfrm>
          <a:prstGeom prst="rect">
            <a:avLst/>
          </a:prstGeom>
          <a:solidFill>
            <a:srgbClr val="FFFFFF"/>
          </a:solidFill>
          <a:ln cap="flat" cmpd="sng" w="12675">
            <a:solidFill>
              <a:srgbClr val="E6F1F7"/>
            </a:solidFill>
            <a:prstDash val="solid"/>
            <a:round/>
            <a:headEnd len="sm" w="sm" type="none"/>
            <a:tailEnd len="sm" w="sm" type="none"/>
          </a:ln>
          <a:effectLst>
            <a:outerShdw blurRad="126742" rotWithShape="0" algn="bl" dir="5400000" dist="38022">
              <a:srgbClr val="0B1F3A">
                <a:alpha val="10196"/>
              </a:srgbClr>
            </a:outerShdw>
          </a:effectLst>
        </p:spPr>
        <p:txBody>
          <a:bodyPr anchorCtr="0" anchor="ctr" bIns="91250" lIns="91250" spcFirstLastPara="1" rIns="91250" wrap="square" tIns="91250">
            <a:noAutofit/>
          </a:bodyPr>
          <a:lstStyle/>
          <a:p>
            <a:pPr indent="0" lvl="0" marL="0" rtl="0" algn="l">
              <a:spcBef>
                <a:spcPts val="0"/>
              </a:spcBef>
              <a:spcAft>
                <a:spcPts val="0"/>
              </a:spcAft>
              <a:buNone/>
            </a:pPr>
            <a:r>
              <a:t/>
            </a:r>
            <a:endParaRPr/>
          </a:p>
        </p:txBody>
      </p:sp>
      <p:sp>
        <p:nvSpPr>
          <p:cNvPr id="37" name="Google Shape;37;p6"/>
          <p:cNvSpPr/>
          <p:nvPr/>
        </p:nvSpPr>
        <p:spPr>
          <a:xfrm>
            <a:off x="434340" y="1965960"/>
            <a:ext cx="361188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a:off x="552377" y="2993802"/>
            <a:ext cx="34290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Wasay Aamer</a:t>
            </a:r>
            <a:endParaRPr b="0" i="0" sz="1600" u="none" cap="none" strike="noStrike">
              <a:solidFill>
                <a:schemeClr val="dk1"/>
              </a:solidFill>
              <a:latin typeface="Calibri"/>
              <a:ea typeface="Calibri"/>
              <a:cs typeface="Calibri"/>
              <a:sym typeface="Calibri"/>
            </a:endParaRPr>
          </a:p>
        </p:txBody>
      </p:sp>
      <p:sp>
        <p:nvSpPr>
          <p:cNvPr id="39" name="Google Shape;39;p6"/>
          <p:cNvSpPr/>
          <p:nvPr/>
        </p:nvSpPr>
        <p:spPr>
          <a:xfrm>
            <a:off x="2038276" y="3274626"/>
            <a:ext cx="457200" cy="18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p:nvPr/>
        </p:nvSpPr>
        <p:spPr>
          <a:xfrm>
            <a:off x="643817" y="3344832"/>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BACHELORS</a:t>
            </a:r>
            <a:endParaRPr b="0" i="0" sz="900" u="none" cap="none" strike="noStrike">
              <a:solidFill>
                <a:schemeClr val="dk1"/>
              </a:solidFill>
              <a:latin typeface="Calibri"/>
              <a:ea typeface="Calibri"/>
              <a:cs typeface="Calibri"/>
              <a:sym typeface="Calibri"/>
            </a:endParaRPr>
          </a:p>
        </p:txBody>
      </p:sp>
      <p:sp>
        <p:nvSpPr>
          <p:cNvPr id="41" name="Google Shape;41;p6"/>
          <p:cNvSpPr/>
          <p:nvPr/>
        </p:nvSpPr>
        <p:spPr>
          <a:xfrm>
            <a:off x="643817" y="3461841"/>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B.Eng. </a:t>
            </a:r>
            <a:r>
              <a:rPr lang="en-US" sz="1200">
                <a:solidFill>
                  <a:srgbClr val="1E293B"/>
                </a:solidFill>
                <a:latin typeface="Calibri"/>
                <a:ea typeface="Calibri"/>
                <a:cs typeface="Calibri"/>
                <a:sym typeface="Calibri"/>
              </a:rPr>
              <a:t>Mechatronics</a:t>
            </a:r>
            <a:r>
              <a:rPr b="0" i="0" lang="en-US" sz="1200" u="none" cap="none" strike="noStrike">
                <a:solidFill>
                  <a:srgbClr val="1E293B"/>
                </a:solidFill>
                <a:latin typeface="Calibri"/>
                <a:ea typeface="Calibri"/>
                <a:cs typeface="Calibri"/>
                <a:sym typeface="Calibri"/>
              </a:rPr>
              <a:t> Engineering</a:t>
            </a:r>
            <a:endParaRPr b="0" i="0" sz="1200" u="none" cap="none" strike="noStrike">
              <a:solidFill>
                <a:schemeClr val="dk1"/>
              </a:solidFill>
              <a:latin typeface="Calibri"/>
              <a:ea typeface="Calibri"/>
              <a:cs typeface="Calibri"/>
              <a:sym typeface="Calibri"/>
            </a:endParaRPr>
          </a:p>
        </p:txBody>
      </p:sp>
      <p:sp>
        <p:nvSpPr>
          <p:cNvPr id="42" name="Google Shape;42;p6"/>
          <p:cNvSpPr/>
          <p:nvPr/>
        </p:nvSpPr>
        <p:spPr>
          <a:xfrm>
            <a:off x="643817" y="3649057"/>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CURRENTLY</a:t>
            </a:r>
            <a:endParaRPr b="0" i="0" sz="900" u="none" cap="none" strike="noStrike">
              <a:solidFill>
                <a:schemeClr val="dk1"/>
              </a:solidFill>
              <a:latin typeface="Calibri"/>
              <a:ea typeface="Calibri"/>
              <a:cs typeface="Calibri"/>
              <a:sym typeface="Calibri"/>
            </a:endParaRPr>
          </a:p>
        </p:txBody>
      </p:sp>
      <p:sp>
        <p:nvSpPr>
          <p:cNvPr id="43" name="Google Shape;43;p6"/>
          <p:cNvSpPr/>
          <p:nvPr/>
        </p:nvSpPr>
        <p:spPr>
          <a:xfrm>
            <a:off x="643817" y="3766067"/>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M.Eng. Computer Engineering</a:t>
            </a:r>
            <a:endParaRPr b="0" i="0" sz="1200" u="none" cap="none" strike="noStrike">
              <a:solidFill>
                <a:schemeClr val="dk1"/>
              </a:solidFill>
              <a:latin typeface="Calibri"/>
              <a:ea typeface="Calibri"/>
              <a:cs typeface="Calibri"/>
              <a:sym typeface="Calibri"/>
            </a:endParaRPr>
          </a:p>
        </p:txBody>
      </p:sp>
      <p:sp>
        <p:nvSpPr>
          <p:cNvPr id="44" name="Google Shape;44;p6"/>
          <p:cNvSpPr/>
          <p:nvPr/>
        </p:nvSpPr>
        <p:spPr>
          <a:xfrm>
            <a:off x="4293600" y="2881200"/>
            <a:ext cx="3604800" cy="1095600"/>
          </a:xfrm>
          <a:prstGeom prst="rect">
            <a:avLst/>
          </a:prstGeom>
          <a:solidFill>
            <a:srgbClr val="FFFFFF"/>
          </a:solidFill>
          <a:ln cap="flat" cmpd="sng" w="12675">
            <a:solidFill>
              <a:srgbClr val="E6F1F7"/>
            </a:solidFill>
            <a:prstDash val="solid"/>
            <a:round/>
            <a:headEnd len="sm" w="sm" type="none"/>
            <a:tailEnd len="sm" w="sm" type="none"/>
          </a:ln>
          <a:effectLst>
            <a:outerShdw blurRad="126742" rotWithShape="0" algn="bl" dir="5400000" dist="38022">
              <a:srgbClr val="0B1F3A">
                <a:alpha val="10196"/>
              </a:srgbClr>
            </a:outerShdw>
          </a:effectLst>
        </p:spPr>
        <p:txBody>
          <a:bodyPr anchorCtr="0" anchor="ctr" bIns="91250" lIns="91250" spcFirstLastPara="1" rIns="91250" wrap="square" tIns="91250">
            <a:noAutofit/>
          </a:bodyPr>
          <a:lstStyle/>
          <a:p>
            <a:pPr indent="0" lvl="0" marL="0" rtl="0" algn="l">
              <a:spcBef>
                <a:spcPts val="0"/>
              </a:spcBef>
              <a:spcAft>
                <a:spcPts val="0"/>
              </a:spcAft>
              <a:buNone/>
            </a:pPr>
            <a:r>
              <a:t/>
            </a:r>
            <a:endParaRPr/>
          </a:p>
        </p:txBody>
      </p:sp>
      <p:sp>
        <p:nvSpPr>
          <p:cNvPr id="45" name="Google Shape;45;p6"/>
          <p:cNvSpPr/>
          <p:nvPr/>
        </p:nvSpPr>
        <p:spPr>
          <a:xfrm>
            <a:off x="4274820" y="1965960"/>
            <a:ext cx="361188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a:off x="4392853" y="2993802"/>
            <a:ext cx="34290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Muzammil Hussain Memon</a:t>
            </a:r>
            <a:endParaRPr b="0" i="0" sz="1600" u="none" cap="none" strike="noStrike">
              <a:solidFill>
                <a:schemeClr val="dk1"/>
              </a:solidFill>
              <a:latin typeface="Calibri"/>
              <a:ea typeface="Calibri"/>
              <a:cs typeface="Calibri"/>
              <a:sym typeface="Calibri"/>
            </a:endParaRPr>
          </a:p>
        </p:txBody>
      </p:sp>
      <p:sp>
        <p:nvSpPr>
          <p:cNvPr id="47" name="Google Shape;47;p6"/>
          <p:cNvSpPr/>
          <p:nvPr/>
        </p:nvSpPr>
        <p:spPr>
          <a:xfrm>
            <a:off x="5878751" y="3274626"/>
            <a:ext cx="457200" cy="18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a:off x="4484293" y="3344832"/>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BACHELORS</a:t>
            </a:r>
            <a:endParaRPr b="0" i="0" sz="900" u="none" cap="none" strike="noStrike">
              <a:solidFill>
                <a:schemeClr val="dk1"/>
              </a:solidFill>
              <a:latin typeface="Calibri"/>
              <a:ea typeface="Calibri"/>
              <a:cs typeface="Calibri"/>
              <a:sym typeface="Calibri"/>
            </a:endParaRPr>
          </a:p>
        </p:txBody>
      </p:sp>
      <p:sp>
        <p:nvSpPr>
          <p:cNvPr id="49" name="Google Shape;49;p6"/>
          <p:cNvSpPr/>
          <p:nvPr/>
        </p:nvSpPr>
        <p:spPr>
          <a:xfrm>
            <a:off x="4484293" y="3461841"/>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B.Eng. </a:t>
            </a:r>
            <a:r>
              <a:rPr lang="en-US" sz="1200">
                <a:solidFill>
                  <a:srgbClr val="1E293B"/>
                </a:solidFill>
                <a:latin typeface="Calibri"/>
                <a:ea typeface="Calibri"/>
                <a:cs typeface="Calibri"/>
                <a:sym typeface="Calibri"/>
              </a:rPr>
              <a:t>Electrical </a:t>
            </a:r>
            <a:r>
              <a:rPr b="0" i="0" lang="en-US" sz="1200" u="none" cap="none" strike="noStrike">
                <a:solidFill>
                  <a:srgbClr val="1E293B"/>
                </a:solidFill>
                <a:latin typeface="Calibri"/>
                <a:ea typeface="Calibri"/>
                <a:cs typeface="Calibri"/>
                <a:sym typeface="Calibri"/>
              </a:rPr>
              <a:t>Engineering</a:t>
            </a:r>
            <a:endParaRPr b="0" i="0" sz="1200" u="none" cap="none" strike="noStrike">
              <a:solidFill>
                <a:schemeClr val="dk1"/>
              </a:solidFill>
              <a:latin typeface="Calibri"/>
              <a:ea typeface="Calibri"/>
              <a:cs typeface="Calibri"/>
              <a:sym typeface="Calibri"/>
            </a:endParaRPr>
          </a:p>
        </p:txBody>
      </p:sp>
      <p:sp>
        <p:nvSpPr>
          <p:cNvPr id="50" name="Google Shape;50;p6"/>
          <p:cNvSpPr/>
          <p:nvPr/>
        </p:nvSpPr>
        <p:spPr>
          <a:xfrm>
            <a:off x="4484293" y="3649057"/>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CURRENTLY</a:t>
            </a:r>
            <a:endParaRPr b="0" i="0" sz="900" u="none" cap="none" strike="noStrike">
              <a:solidFill>
                <a:schemeClr val="dk1"/>
              </a:solidFill>
              <a:latin typeface="Calibri"/>
              <a:ea typeface="Calibri"/>
              <a:cs typeface="Calibri"/>
              <a:sym typeface="Calibri"/>
            </a:endParaRPr>
          </a:p>
        </p:txBody>
      </p:sp>
      <p:sp>
        <p:nvSpPr>
          <p:cNvPr id="51" name="Google Shape;51;p6"/>
          <p:cNvSpPr/>
          <p:nvPr/>
        </p:nvSpPr>
        <p:spPr>
          <a:xfrm>
            <a:off x="4484293" y="3766067"/>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M.Eng. </a:t>
            </a:r>
            <a:r>
              <a:rPr b="1" i="0" lang="en-US" sz="1200" u="none" cap="none" strike="noStrike">
                <a:solidFill>
                  <a:srgbClr val="0B1F3A"/>
                </a:solidFill>
                <a:latin typeface="Calibri"/>
                <a:ea typeface="Calibri"/>
                <a:cs typeface="Calibri"/>
                <a:sym typeface="Calibri"/>
              </a:rPr>
              <a:t>Computer </a:t>
            </a:r>
            <a:r>
              <a:rPr b="1" i="0" lang="en-US" sz="1200" u="none" cap="none" strike="noStrike">
                <a:solidFill>
                  <a:srgbClr val="0B1F3A"/>
                </a:solidFill>
                <a:latin typeface="Calibri"/>
                <a:ea typeface="Calibri"/>
                <a:cs typeface="Calibri"/>
                <a:sym typeface="Calibri"/>
              </a:rPr>
              <a:t>Engineering</a:t>
            </a:r>
            <a:endParaRPr b="0" i="0" sz="1200" u="none" cap="none" strike="noStrike">
              <a:solidFill>
                <a:schemeClr val="dk1"/>
              </a:solidFill>
              <a:latin typeface="Calibri"/>
              <a:ea typeface="Calibri"/>
              <a:cs typeface="Calibri"/>
              <a:sym typeface="Calibri"/>
            </a:endParaRPr>
          </a:p>
        </p:txBody>
      </p:sp>
      <p:sp>
        <p:nvSpPr>
          <p:cNvPr id="52" name="Google Shape;52;p6"/>
          <p:cNvSpPr/>
          <p:nvPr/>
        </p:nvSpPr>
        <p:spPr>
          <a:xfrm>
            <a:off x="8126262" y="2881200"/>
            <a:ext cx="3604800" cy="1095600"/>
          </a:xfrm>
          <a:prstGeom prst="rect">
            <a:avLst/>
          </a:prstGeom>
          <a:solidFill>
            <a:srgbClr val="FFFFFF"/>
          </a:solidFill>
          <a:ln cap="flat" cmpd="sng" w="12675">
            <a:solidFill>
              <a:srgbClr val="E6F1F7"/>
            </a:solidFill>
            <a:prstDash val="solid"/>
            <a:round/>
            <a:headEnd len="sm" w="sm" type="none"/>
            <a:tailEnd len="sm" w="sm" type="none"/>
          </a:ln>
          <a:effectLst>
            <a:outerShdw blurRad="126742" rotWithShape="0" algn="bl" dir="5400000" dist="38022">
              <a:srgbClr val="0B1F3A">
                <a:alpha val="10196"/>
              </a:srgbClr>
            </a:outerShdw>
          </a:effectLst>
        </p:spPr>
        <p:txBody>
          <a:bodyPr anchorCtr="0" anchor="ctr" bIns="91250" lIns="91250" spcFirstLastPara="1" rIns="91250" wrap="square" tIns="91250">
            <a:noAutofit/>
          </a:bodyPr>
          <a:lstStyle/>
          <a:p>
            <a:pPr indent="0" lvl="0" marL="0" rtl="0" algn="l">
              <a:spcBef>
                <a:spcPts val="0"/>
              </a:spcBef>
              <a:spcAft>
                <a:spcPts val="0"/>
              </a:spcAft>
              <a:buNone/>
            </a:pPr>
            <a:r>
              <a:t/>
            </a:r>
            <a:endParaRPr/>
          </a:p>
        </p:txBody>
      </p:sp>
      <p:sp>
        <p:nvSpPr>
          <p:cNvPr id="53" name="Google Shape;53;p6"/>
          <p:cNvSpPr/>
          <p:nvPr/>
        </p:nvSpPr>
        <p:spPr>
          <a:xfrm>
            <a:off x="8115300" y="1965960"/>
            <a:ext cx="361188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8233328" y="2993802"/>
            <a:ext cx="3429000" cy="23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Mahad Khokhar</a:t>
            </a:r>
            <a:endParaRPr b="0" i="0" sz="1600" u="none" cap="none" strike="noStrike">
              <a:solidFill>
                <a:schemeClr val="dk1"/>
              </a:solidFill>
              <a:latin typeface="Calibri"/>
              <a:ea typeface="Calibri"/>
              <a:cs typeface="Calibri"/>
              <a:sym typeface="Calibri"/>
            </a:endParaRPr>
          </a:p>
        </p:txBody>
      </p:sp>
      <p:sp>
        <p:nvSpPr>
          <p:cNvPr id="55" name="Google Shape;55;p6"/>
          <p:cNvSpPr/>
          <p:nvPr/>
        </p:nvSpPr>
        <p:spPr>
          <a:xfrm>
            <a:off x="9719227" y="3274626"/>
            <a:ext cx="457200" cy="18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8324768" y="3344832"/>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BACHELORS</a:t>
            </a:r>
            <a:endParaRPr b="0" i="0" sz="900" u="none" cap="none" strike="noStrike">
              <a:solidFill>
                <a:schemeClr val="dk1"/>
              </a:solidFill>
              <a:latin typeface="Calibri"/>
              <a:ea typeface="Calibri"/>
              <a:cs typeface="Calibri"/>
              <a:sym typeface="Calibri"/>
            </a:endParaRPr>
          </a:p>
        </p:txBody>
      </p:sp>
      <p:sp>
        <p:nvSpPr>
          <p:cNvPr id="57" name="Google Shape;57;p6"/>
          <p:cNvSpPr/>
          <p:nvPr/>
        </p:nvSpPr>
        <p:spPr>
          <a:xfrm>
            <a:off x="8324768" y="3461841"/>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B.Eng. </a:t>
            </a:r>
            <a:r>
              <a:rPr lang="en-US" sz="1200">
                <a:solidFill>
                  <a:srgbClr val="1E293B"/>
                </a:solidFill>
                <a:latin typeface="Calibri"/>
                <a:ea typeface="Calibri"/>
                <a:cs typeface="Calibri"/>
                <a:sym typeface="Calibri"/>
              </a:rPr>
              <a:t>Software </a:t>
            </a:r>
            <a:r>
              <a:rPr b="0" i="0" lang="en-US" sz="1200" u="none" cap="none" strike="noStrike">
                <a:solidFill>
                  <a:srgbClr val="1E293B"/>
                </a:solidFill>
                <a:latin typeface="Calibri"/>
                <a:ea typeface="Calibri"/>
                <a:cs typeface="Calibri"/>
                <a:sym typeface="Calibri"/>
              </a:rPr>
              <a:t>Engineering </a:t>
            </a:r>
            <a:endParaRPr b="0" i="0" sz="1200" u="none" cap="none" strike="noStrike">
              <a:solidFill>
                <a:schemeClr val="dk1"/>
              </a:solidFill>
              <a:latin typeface="Calibri"/>
              <a:ea typeface="Calibri"/>
              <a:cs typeface="Calibri"/>
              <a:sym typeface="Calibri"/>
            </a:endParaRPr>
          </a:p>
        </p:txBody>
      </p:sp>
      <p:sp>
        <p:nvSpPr>
          <p:cNvPr id="58" name="Google Shape;58;p6"/>
          <p:cNvSpPr/>
          <p:nvPr/>
        </p:nvSpPr>
        <p:spPr>
          <a:xfrm>
            <a:off x="8324768" y="3649057"/>
            <a:ext cx="3246000" cy="11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900"/>
              <a:buFont typeface="Calibri"/>
              <a:buNone/>
            </a:pPr>
            <a:r>
              <a:rPr b="1" i="0" lang="en-US" sz="900" u="none" cap="none" strike="noStrike">
                <a:solidFill>
                  <a:srgbClr val="1C7293"/>
                </a:solidFill>
                <a:latin typeface="Calibri"/>
                <a:ea typeface="Calibri"/>
                <a:cs typeface="Calibri"/>
                <a:sym typeface="Calibri"/>
              </a:rPr>
              <a:t>CURRENTLY</a:t>
            </a:r>
            <a:endParaRPr b="0" i="0" sz="900" u="none" cap="none" strike="noStrike">
              <a:solidFill>
                <a:schemeClr val="dk1"/>
              </a:solidFill>
              <a:latin typeface="Calibri"/>
              <a:ea typeface="Calibri"/>
              <a:cs typeface="Calibri"/>
              <a:sym typeface="Calibri"/>
            </a:endParaRPr>
          </a:p>
        </p:txBody>
      </p:sp>
      <p:sp>
        <p:nvSpPr>
          <p:cNvPr id="59" name="Google Shape;59;p6"/>
          <p:cNvSpPr/>
          <p:nvPr/>
        </p:nvSpPr>
        <p:spPr>
          <a:xfrm>
            <a:off x="8324768" y="3766067"/>
            <a:ext cx="3246000" cy="140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M.Eng. Computer Engineering</a:t>
            </a:r>
            <a:endParaRPr b="0" i="0" sz="1200" u="none" cap="none" strike="noStrike">
              <a:solidFill>
                <a:schemeClr val="dk1"/>
              </a:solidFill>
              <a:latin typeface="Calibri"/>
              <a:ea typeface="Calibri"/>
              <a:cs typeface="Calibri"/>
              <a:sym typeface="Calibri"/>
            </a:endParaRPr>
          </a:p>
        </p:txBody>
      </p:sp>
      <p:sp>
        <p:nvSpPr>
          <p:cNvPr id="60" name="Google Shape;60;p6"/>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63" name="Google Shape;63;p6"/>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68" name="Shape 68"/>
        <p:cNvGrpSpPr/>
        <p:nvPr/>
      </p:nvGrpSpPr>
      <p:grpSpPr>
        <a:xfrm>
          <a:off x="0" y="0"/>
          <a:ext cx="0" cy="0"/>
          <a:chOff x="0" y="0"/>
          <a:chExt cx="0" cy="0"/>
        </a:xfrm>
      </p:grpSpPr>
      <p:sp>
        <p:nvSpPr>
          <p:cNvPr id="69" name="Google Shape;69;p7"/>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OVERVIEW</a:t>
            </a:r>
            <a:endParaRPr b="0" i="0" sz="1200" u="none" cap="none" strike="noStrike">
              <a:solidFill>
                <a:schemeClr val="dk1"/>
              </a:solidFill>
              <a:latin typeface="Calibri"/>
              <a:ea typeface="Calibri"/>
              <a:cs typeface="Calibri"/>
              <a:sym typeface="Calibri"/>
            </a:endParaRPr>
          </a:p>
        </p:txBody>
      </p:sp>
      <p:sp>
        <p:nvSpPr>
          <p:cNvPr id="71" name="Google Shape;71;p7"/>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Agenda</a:t>
            </a:r>
            <a:endParaRPr b="0" i="0" sz="3200" u="none" cap="none" strike="noStrike">
              <a:solidFill>
                <a:schemeClr val="dk1"/>
              </a:solidFill>
              <a:latin typeface="Calibri"/>
              <a:ea typeface="Calibri"/>
              <a:cs typeface="Calibri"/>
              <a:sym typeface="Calibri"/>
            </a:endParaRPr>
          </a:p>
        </p:txBody>
      </p:sp>
      <p:sp>
        <p:nvSpPr>
          <p:cNvPr id="72" name="Google Shape;72;p7"/>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548640" y="2011680"/>
            <a:ext cx="685800" cy="685800"/>
          </a:xfrm>
          <a:prstGeom prst="ellipse">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548640" y="201168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01</a:t>
            </a:r>
            <a:endParaRPr b="0" i="0" sz="1600" u="none" cap="none" strike="noStrike">
              <a:solidFill>
                <a:schemeClr val="dk1"/>
              </a:solidFill>
              <a:latin typeface="Calibri"/>
              <a:ea typeface="Calibri"/>
              <a:cs typeface="Calibri"/>
              <a:sym typeface="Calibri"/>
            </a:endParaRPr>
          </a:p>
        </p:txBody>
      </p:sp>
      <p:sp>
        <p:nvSpPr>
          <p:cNvPr id="75" name="Google Shape;75;p7"/>
          <p:cNvSpPr/>
          <p:nvPr/>
        </p:nvSpPr>
        <p:spPr>
          <a:xfrm>
            <a:off x="1417320" y="201168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700"/>
              <a:buFont typeface="Georgia"/>
              <a:buNone/>
            </a:pPr>
            <a:r>
              <a:rPr b="1" i="0" lang="en-US" sz="1700" u="none" cap="none" strike="noStrike">
                <a:solidFill>
                  <a:srgbClr val="0B1F3A"/>
                </a:solidFill>
                <a:latin typeface="Georgia"/>
                <a:ea typeface="Georgia"/>
                <a:cs typeface="Georgia"/>
                <a:sym typeface="Georgia"/>
              </a:rPr>
              <a:t>Introduction</a:t>
            </a:r>
            <a:endParaRPr b="0" i="0" sz="1700" u="none" cap="none" strike="noStrike">
              <a:solidFill>
                <a:schemeClr val="dk1"/>
              </a:solidFill>
              <a:latin typeface="Calibri"/>
              <a:ea typeface="Calibri"/>
              <a:cs typeface="Calibri"/>
              <a:sym typeface="Calibri"/>
            </a:endParaRPr>
          </a:p>
        </p:txBody>
      </p:sp>
      <p:sp>
        <p:nvSpPr>
          <p:cNvPr id="76" name="Google Shape;76;p7"/>
          <p:cNvSpPr/>
          <p:nvPr/>
        </p:nvSpPr>
        <p:spPr>
          <a:xfrm>
            <a:off x="1417320" y="237744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The clinical motivation and problem</a:t>
            </a:r>
            <a:endParaRPr b="0" i="0" sz="1200" u="none" cap="none" strike="noStrike">
              <a:solidFill>
                <a:schemeClr val="dk1"/>
              </a:solidFill>
              <a:latin typeface="Calibri"/>
              <a:ea typeface="Calibri"/>
              <a:cs typeface="Calibri"/>
              <a:sym typeface="Calibri"/>
            </a:endParaRPr>
          </a:p>
        </p:txBody>
      </p:sp>
      <p:sp>
        <p:nvSpPr>
          <p:cNvPr id="77" name="Google Shape;77;p7"/>
          <p:cNvSpPr/>
          <p:nvPr/>
        </p:nvSpPr>
        <p:spPr>
          <a:xfrm>
            <a:off x="6309360" y="2011680"/>
            <a:ext cx="685800" cy="685800"/>
          </a:xfrm>
          <a:prstGeom prst="ellipse">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6309360" y="201168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02</a:t>
            </a:r>
            <a:endParaRPr b="0" i="0" sz="1600" u="none" cap="none" strike="noStrike">
              <a:solidFill>
                <a:schemeClr val="dk1"/>
              </a:solidFill>
              <a:latin typeface="Calibri"/>
              <a:ea typeface="Calibri"/>
              <a:cs typeface="Calibri"/>
              <a:sym typeface="Calibri"/>
            </a:endParaRPr>
          </a:p>
        </p:txBody>
      </p:sp>
      <p:sp>
        <p:nvSpPr>
          <p:cNvPr id="79" name="Google Shape;79;p7"/>
          <p:cNvSpPr/>
          <p:nvPr/>
        </p:nvSpPr>
        <p:spPr>
          <a:xfrm>
            <a:off x="7178040" y="201168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700"/>
              <a:buFont typeface="Georgia"/>
              <a:buNone/>
            </a:pPr>
            <a:r>
              <a:rPr b="1" i="0" lang="en-US" sz="1700" u="none" cap="none" strike="noStrike">
                <a:solidFill>
                  <a:srgbClr val="0B1F3A"/>
                </a:solidFill>
                <a:latin typeface="Georgia"/>
                <a:ea typeface="Georgia"/>
                <a:cs typeface="Georgia"/>
                <a:sym typeface="Georgia"/>
              </a:rPr>
              <a:t>Literature Review</a:t>
            </a:r>
            <a:endParaRPr b="0" i="0" sz="1700" u="none" cap="none" strike="noStrike">
              <a:solidFill>
                <a:schemeClr val="dk1"/>
              </a:solidFill>
              <a:latin typeface="Calibri"/>
              <a:ea typeface="Calibri"/>
              <a:cs typeface="Calibri"/>
              <a:sym typeface="Calibri"/>
            </a:endParaRPr>
          </a:p>
        </p:txBody>
      </p:sp>
      <p:sp>
        <p:nvSpPr>
          <p:cNvPr id="80" name="Google Shape;80;p7"/>
          <p:cNvSpPr/>
          <p:nvPr/>
        </p:nvSpPr>
        <p:spPr>
          <a:xfrm>
            <a:off x="7178040" y="237744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Prior work in segmentation &amp; classification</a:t>
            </a:r>
            <a:endParaRPr b="0" i="0" sz="1200" u="none" cap="none" strike="noStrike">
              <a:solidFill>
                <a:schemeClr val="dk1"/>
              </a:solidFill>
              <a:latin typeface="Calibri"/>
              <a:ea typeface="Calibri"/>
              <a:cs typeface="Calibri"/>
              <a:sym typeface="Calibri"/>
            </a:endParaRPr>
          </a:p>
        </p:txBody>
      </p:sp>
      <p:sp>
        <p:nvSpPr>
          <p:cNvPr id="81" name="Google Shape;81;p7"/>
          <p:cNvSpPr/>
          <p:nvPr/>
        </p:nvSpPr>
        <p:spPr>
          <a:xfrm>
            <a:off x="548640" y="3017520"/>
            <a:ext cx="685800" cy="685800"/>
          </a:xfrm>
          <a:prstGeom prst="ellipse">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548640" y="30175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03</a:t>
            </a:r>
            <a:endParaRPr b="0" i="0" sz="1600" u="none" cap="none" strike="noStrike">
              <a:solidFill>
                <a:schemeClr val="dk1"/>
              </a:solidFill>
              <a:latin typeface="Calibri"/>
              <a:ea typeface="Calibri"/>
              <a:cs typeface="Calibri"/>
              <a:sym typeface="Calibri"/>
            </a:endParaRPr>
          </a:p>
        </p:txBody>
      </p:sp>
      <p:sp>
        <p:nvSpPr>
          <p:cNvPr id="83" name="Google Shape;83;p7"/>
          <p:cNvSpPr/>
          <p:nvPr/>
        </p:nvSpPr>
        <p:spPr>
          <a:xfrm>
            <a:off x="1417320" y="30175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700"/>
              <a:buFont typeface="Georgia"/>
              <a:buNone/>
            </a:pPr>
            <a:r>
              <a:rPr b="1" i="0" lang="en-US" sz="1700" u="none" cap="none" strike="noStrike">
                <a:solidFill>
                  <a:srgbClr val="0B1F3A"/>
                </a:solidFill>
                <a:latin typeface="Georgia"/>
                <a:ea typeface="Georgia"/>
                <a:cs typeface="Georgia"/>
                <a:sym typeface="Georgia"/>
              </a:rPr>
              <a:t>Dataset</a:t>
            </a:r>
            <a:endParaRPr b="0" i="0" sz="1700" u="none" cap="none" strike="noStrike">
              <a:solidFill>
                <a:schemeClr val="dk1"/>
              </a:solidFill>
              <a:latin typeface="Calibri"/>
              <a:ea typeface="Calibri"/>
              <a:cs typeface="Calibri"/>
              <a:sym typeface="Calibri"/>
            </a:endParaRPr>
          </a:p>
        </p:txBody>
      </p:sp>
      <p:sp>
        <p:nvSpPr>
          <p:cNvPr id="84" name="Google Shape;84;p7"/>
          <p:cNvSpPr/>
          <p:nvPr/>
        </p:nvSpPr>
        <p:spPr>
          <a:xfrm>
            <a:off x="1417320" y="338328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BRISC 2025 — structure and distribution</a:t>
            </a:r>
            <a:endParaRPr b="0" i="0" sz="1200" u="none" cap="none" strike="noStrike">
              <a:solidFill>
                <a:schemeClr val="dk1"/>
              </a:solidFill>
              <a:latin typeface="Calibri"/>
              <a:ea typeface="Calibri"/>
              <a:cs typeface="Calibri"/>
              <a:sym typeface="Calibri"/>
            </a:endParaRPr>
          </a:p>
        </p:txBody>
      </p:sp>
      <p:sp>
        <p:nvSpPr>
          <p:cNvPr id="85" name="Google Shape;85;p7"/>
          <p:cNvSpPr/>
          <p:nvPr/>
        </p:nvSpPr>
        <p:spPr>
          <a:xfrm>
            <a:off x="6309360" y="3017520"/>
            <a:ext cx="685800" cy="685800"/>
          </a:xfrm>
          <a:prstGeom prst="ellipse">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6309360" y="30175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0</a:t>
            </a:r>
            <a:r>
              <a:rPr b="1" lang="en-US" sz="1600">
                <a:solidFill>
                  <a:srgbClr val="FFFFFF"/>
                </a:solidFill>
                <a:latin typeface="Georgia"/>
                <a:ea typeface="Georgia"/>
                <a:cs typeface="Georgia"/>
                <a:sym typeface="Georgia"/>
              </a:rPr>
              <a:t>4</a:t>
            </a:r>
            <a:endParaRPr b="0" i="0" sz="1600" u="none" cap="none" strike="noStrike">
              <a:solidFill>
                <a:schemeClr val="dk1"/>
              </a:solidFill>
              <a:latin typeface="Calibri"/>
              <a:ea typeface="Calibri"/>
              <a:cs typeface="Calibri"/>
              <a:sym typeface="Calibri"/>
            </a:endParaRPr>
          </a:p>
        </p:txBody>
      </p:sp>
      <p:sp>
        <p:nvSpPr>
          <p:cNvPr id="87" name="Google Shape;87;p7"/>
          <p:cNvSpPr/>
          <p:nvPr/>
        </p:nvSpPr>
        <p:spPr>
          <a:xfrm>
            <a:off x="548640" y="4023360"/>
            <a:ext cx="685800" cy="685800"/>
          </a:xfrm>
          <a:prstGeom prst="ellipse">
            <a:avLst/>
          </a:prstGeom>
          <a:solidFill>
            <a:srgbClr val="065A82"/>
          </a:solidFill>
          <a:ln cap="flat" cmpd="sng" w="12700">
            <a:solidFill>
              <a:srgbClr val="065A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548640" y="402336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05</a:t>
            </a:r>
            <a:endParaRPr b="0" i="0" sz="1600" u="none" cap="none" strike="noStrike">
              <a:solidFill>
                <a:schemeClr val="dk1"/>
              </a:solidFill>
              <a:latin typeface="Calibri"/>
              <a:ea typeface="Calibri"/>
              <a:cs typeface="Calibri"/>
              <a:sym typeface="Calibri"/>
            </a:endParaRPr>
          </a:p>
        </p:txBody>
      </p:sp>
      <p:sp>
        <p:nvSpPr>
          <p:cNvPr id="89" name="Google Shape;89;p7"/>
          <p:cNvSpPr/>
          <p:nvPr/>
        </p:nvSpPr>
        <p:spPr>
          <a:xfrm>
            <a:off x="7132308" y="3017485"/>
            <a:ext cx="475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700"/>
              <a:buFont typeface="Georgia"/>
              <a:buNone/>
            </a:pPr>
            <a:r>
              <a:rPr b="1" i="0" lang="en-US" sz="1700" u="none" cap="none" strike="noStrike">
                <a:solidFill>
                  <a:srgbClr val="0B1F3A"/>
                </a:solidFill>
                <a:latin typeface="Georgia"/>
                <a:ea typeface="Georgia"/>
                <a:cs typeface="Georgia"/>
                <a:sym typeface="Georgia"/>
              </a:rPr>
              <a:t>Methodology</a:t>
            </a:r>
            <a:endParaRPr b="0" i="0" sz="1700" u="none" cap="none" strike="noStrike">
              <a:solidFill>
                <a:schemeClr val="dk1"/>
              </a:solidFill>
              <a:latin typeface="Calibri"/>
              <a:ea typeface="Calibri"/>
              <a:cs typeface="Calibri"/>
              <a:sym typeface="Calibri"/>
            </a:endParaRPr>
          </a:p>
        </p:txBody>
      </p:sp>
      <p:sp>
        <p:nvSpPr>
          <p:cNvPr id="90" name="Google Shape;90;p7"/>
          <p:cNvSpPr/>
          <p:nvPr/>
        </p:nvSpPr>
        <p:spPr>
          <a:xfrm>
            <a:off x="7155170" y="3383245"/>
            <a:ext cx="475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U-Net and VGG16 model architectures</a:t>
            </a:r>
            <a:endParaRPr b="0" i="0" sz="1200" u="none" cap="none" strike="noStrike">
              <a:solidFill>
                <a:schemeClr val="dk1"/>
              </a:solidFill>
              <a:latin typeface="Calibri"/>
              <a:ea typeface="Calibri"/>
              <a:cs typeface="Calibri"/>
              <a:sym typeface="Calibri"/>
            </a:endParaRPr>
          </a:p>
        </p:txBody>
      </p:sp>
      <p:sp>
        <p:nvSpPr>
          <p:cNvPr id="91" name="Google Shape;91;p7"/>
          <p:cNvSpPr/>
          <p:nvPr/>
        </p:nvSpPr>
        <p:spPr>
          <a:xfrm>
            <a:off x="1394453" y="4023360"/>
            <a:ext cx="475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700"/>
              <a:buFont typeface="Georgia"/>
              <a:buNone/>
            </a:pPr>
            <a:r>
              <a:rPr b="1" i="0" lang="en-US" sz="1700" u="none" cap="none" strike="noStrike">
                <a:solidFill>
                  <a:srgbClr val="0B1F3A"/>
                </a:solidFill>
                <a:latin typeface="Georgia"/>
                <a:ea typeface="Georgia"/>
                <a:cs typeface="Georgia"/>
                <a:sym typeface="Georgia"/>
              </a:rPr>
              <a:t>Results &amp; Discussion</a:t>
            </a:r>
            <a:endParaRPr b="0" i="0" sz="1700" u="none" cap="none" strike="noStrike">
              <a:solidFill>
                <a:schemeClr val="dk1"/>
              </a:solidFill>
              <a:latin typeface="Calibri"/>
              <a:ea typeface="Calibri"/>
              <a:cs typeface="Calibri"/>
              <a:sym typeface="Calibri"/>
            </a:endParaRPr>
          </a:p>
        </p:txBody>
      </p:sp>
      <p:sp>
        <p:nvSpPr>
          <p:cNvPr id="92" name="Google Shape;92;p7"/>
          <p:cNvSpPr/>
          <p:nvPr/>
        </p:nvSpPr>
        <p:spPr>
          <a:xfrm>
            <a:off x="1394453" y="4389120"/>
            <a:ext cx="4755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Quantitative metrics, visuals, comparison</a:t>
            </a:r>
            <a:endParaRPr b="0" i="0" sz="1200" u="none" cap="none" strike="noStrike">
              <a:solidFill>
                <a:schemeClr val="dk1"/>
              </a:solidFill>
              <a:latin typeface="Calibri"/>
              <a:ea typeface="Calibri"/>
              <a:cs typeface="Calibri"/>
              <a:sym typeface="Calibri"/>
            </a:endParaRPr>
          </a:p>
        </p:txBody>
      </p:sp>
      <p:sp>
        <p:nvSpPr>
          <p:cNvPr id="93" name="Google Shape;93;p7"/>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96" name="Google Shape;96;p7"/>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01" name="Shape 101"/>
        <p:cNvGrpSpPr/>
        <p:nvPr/>
      </p:nvGrpSpPr>
      <p:grpSpPr>
        <a:xfrm>
          <a:off x="0" y="0"/>
          <a:ext cx="0" cy="0"/>
          <a:chOff x="0" y="0"/>
          <a:chExt cx="0" cy="0"/>
        </a:xfrm>
      </p:grpSpPr>
      <p:sp>
        <p:nvSpPr>
          <p:cNvPr id="102" name="Google Shape;102;p8"/>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01  •  INTRODUCTION</a:t>
            </a:r>
            <a:endParaRPr b="0" i="0" sz="1200" u="none" cap="none" strike="noStrike">
              <a:solidFill>
                <a:schemeClr val="dk1"/>
              </a:solidFill>
              <a:latin typeface="Calibri"/>
              <a:ea typeface="Calibri"/>
              <a:cs typeface="Calibri"/>
              <a:sym typeface="Calibri"/>
            </a:endParaRPr>
          </a:p>
        </p:txBody>
      </p:sp>
      <p:sp>
        <p:nvSpPr>
          <p:cNvPr id="104" name="Google Shape;104;p8"/>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Why Automate Brain Tumor Diagnosis?</a:t>
            </a:r>
            <a:endParaRPr b="0" i="0" sz="3200" u="none" cap="none" strike="noStrike">
              <a:solidFill>
                <a:schemeClr val="dk1"/>
              </a:solidFill>
              <a:latin typeface="Calibri"/>
              <a:ea typeface="Calibri"/>
              <a:cs typeface="Calibri"/>
              <a:sym typeface="Calibri"/>
            </a:endParaRPr>
          </a:p>
        </p:txBody>
      </p:sp>
      <p:sp>
        <p:nvSpPr>
          <p:cNvPr id="105" name="Google Shape;105;p8"/>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548640" y="2011680"/>
            <a:ext cx="5486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800"/>
              <a:buFont typeface="Georgia"/>
              <a:buNone/>
            </a:pPr>
            <a:r>
              <a:rPr b="1" i="0" lang="en-US" sz="1800" u="none" cap="none" strike="noStrike">
                <a:solidFill>
                  <a:srgbClr val="1C7293"/>
                </a:solidFill>
                <a:latin typeface="Georgia"/>
                <a:ea typeface="Georgia"/>
                <a:cs typeface="Georgia"/>
                <a:sym typeface="Georgia"/>
              </a:rPr>
              <a:t>The Clinical Challenge</a:t>
            </a:r>
            <a:endParaRPr b="0" i="0" sz="1800" u="none" cap="none" strike="noStrike">
              <a:solidFill>
                <a:schemeClr val="dk1"/>
              </a:solidFill>
              <a:latin typeface="Calibri"/>
              <a:ea typeface="Calibri"/>
              <a:cs typeface="Calibri"/>
              <a:sym typeface="Calibri"/>
            </a:endParaRPr>
          </a:p>
        </p:txBody>
      </p:sp>
      <p:sp>
        <p:nvSpPr>
          <p:cNvPr id="107" name="Google Shape;107;p8"/>
          <p:cNvSpPr/>
          <p:nvPr/>
        </p:nvSpPr>
        <p:spPr>
          <a:xfrm>
            <a:off x="548640" y="2514600"/>
            <a:ext cx="548640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MRI is the standard imaging modality for diagnosing brain tumors due to its detailed soft-tissue contrast.</a:t>
            </a:r>
            <a:endParaRPr b="0" i="0" sz="13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However, manual analysis by neuroradiologists is slow, subjective, expensive, and difficult to scale across large patient volumes.</a:t>
            </a:r>
            <a:endParaRPr b="0" i="0" sz="1300" u="none" cap="none" strike="noStrike">
              <a:solidFill>
                <a:schemeClr val="dk1"/>
              </a:solidFill>
              <a:latin typeface="Calibri"/>
              <a:ea typeface="Calibri"/>
              <a:cs typeface="Calibri"/>
              <a:sym typeface="Calibri"/>
            </a:endParaRPr>
          </a:p>
          <a:p>
            <a:pPr indent="0" lvl="0" marL="0" marR="0" rtl="0" algn="l">
              <a:spcBef>
                <a:spcPts val="100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Tumor boundaries are often ambiguous due to low contrast, intensity inhomogeneity, and heterogeneous appearance — increasing inter-observer variability.</a:t>
            </a:r>
            <a:endParaRPr b="0" i="0" sz="1300" u="none" cap="none" strike="noStrike">
              <a:solidFill>
                <a:schemeClr val="dk1"/>
              </a:solidFill>
              <a:latin typeface="Calibri"/>
              <a:ea typeface="Calibri"/>
              <a:cs typeface="Calibri"/>
              <a:sym typeface="Calibri"/>
            </a:endParaRPr>
          </a:p>
        </p:txBody>
      </p:sp>
      <p:sp>
        <p:nvSpPr>
          <p:cNvPr id="108" name="Google Shape;108;p8"/>
          <p:cNvSpPr/>
          <p:nvPr/>
        </p:nvSpPr>
        <p:spPr>
          <a:xfrm>
            <a:off x="6583680" y="2011680"/>
            <a:ext cx="5029200" cy="429768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a:off x="6583680" y="2011680"/>
            <a:ext cx="91440" cy="42976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6858000" y="21945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100"/>
              <a:buFont typeface="Calibri"/>
              <a:buNone/>
            </a:pPr>
            <a:r>
              <a:rPr b="1" i="0" lang="en-US" sz="1100" u="none" cap="none" strike="noStrike">
                <a:solidFill>
                  <a:srgbClr val="00C2A8"/>
                </a:solidFill>
                <a:latin typeface="Calibri"/>
                <a:ea typeface="Calibri"/>
                <a:cs typeface="Calibri"/>
                <a:sym typeface="Calibri"/>
              </a:rPr>
              <a:t>OUR GOAL</a:t>
            </a:r>
            <a:endParaRPr b="0" i="0" sz="1100" u="none" cap="none" strike="noStrike">
              <a:solidFill>
                <a:schemeClr val="dk1"/>
              </a:solidFill>
              <a:latin typeface="Calibri"/>
              <a:ea typeface="Calibri"/>
              <a:cs typeface="Calibri"/>
              <a:sym typeface="Calibri"/>
            </a:endParaRPr>
          </a:p>
        </p:txBody>
      </p:sp>
      <p:sp>
        <p:nvSpPr>
          <p:cNvPr id="111" name="Google Shape;111;p8"/>
          <p:cNvSpPr/>
          <p:nvPr/>
        </p:nvSpPr>
        <p:spPr>
          <a:xfrm>
            <a:off x="6858000" y="2514600"/>
            <a:ext cx="45720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900"/>
              <a:buFont typeface="Georgia"/>
              <a:buNone/>
            </a:pPr>
            <a:r>
              <a:rPr b="1" i="0" lang="en-US" sz="1900" u="none" cap="none" strike="noStrike">
                <a:solidFill>
                  <a:srgbClr val="FFFFFF"/>
                </a:solidFill>
                <a:latin typeface="Georgia"/>
                <a:ea typeface="Georgia"/>
                <a:cs typeface="Georgia"/>
                <a:sym typeface="Georgia"/>
              </a:rPr>
              <a:t>Build an automated pipeline that both localizes tumors and classifies them.</a:t>
            </a:r>
            <a:endParaRPr b="0" i="0" sz="1900" u="none" cap="none" strike="noStrike">
              <a:solidFill>
                <a:schemeClr val="dk1"/>
              </a:solidFill>
              <a:latin typeface="Calibri"/>
              <a:ea typeface="Calibri"/>
              <a:cs typeface="Calibri"/>
              <a:sym typeface="Calibri"/>
            </a:endParaRPr>
          </a:p>
        </p:txBody>
      </p:sp>
      <p:sp>
        <p:nvSpPr>
          <p:cNvPr id="112" name="Google Shape;112;p8"/>
          <p:cNvSpPr/>
          <p:nvPr/>
        </p:nvSpPr>
        <p:spPr>
          <a:xfrm>
            <a:off x="6858000" y="4114800"/>
            <a:ext cx="4572000" cy="2103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2A8"/>
              </a:buClr>
              <a:buSzPts val="1300"/>
              <a:buFont typeface="Calibri"/>
              <a:buNone/>
            </a:pPr>
            <a:r>
              <a:rPr b="1" i="0" lang="en-US" sz="1300" u="none" cap="none" strike="noStrike">
                <a:solidFill>
                  <a:srgbClr val="00C2A8"/>
                </a:solidFill>
                <a:latin typeface="Calibri"/>
                <a:ea typeface="Calibri"/>
                <a:cs typeface="Calibri"/>
                <a:sym typeface="Calibri"/>
              </a:rPr>
              <a:t>✓  </a:t>
            </a:r>
            <a:r>
              <a:rPr b="0" i="0" lang="en-US" sz="1300" u="none" cap="none" strike="noStrike">
                <a:solidFill>
                  <a:srgbClr val="E6F1F7"/>
                </a:solidFill>
                <a:latin typeface="Calibri"/>
                <a:ea typeface="Calibri"/>
                <a:cs typeface="Calibri"/>
                <a:sym typeface="Calibri"/>
              </a:rPr>
              <a:t>Pixel-wise tumor segmentation with U-Net</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300"/>
              <a:buFont typeface="Calibri"/>
              <a:buNone/>
            </a:pPr>
            <a:r>
              <a:rPr b="1" i="0" lang="en-US" sz="1300" u="none" cap="none" strike="noStrike">
                <a:solidFill>
                  <a:srgbClr val="00C2A8"/>
                </a:solidFill>
                <a:latin typeface="Calibri"/>
                <a:ea typeface="Calibri"/>
                <a:cs typeface="Calibri"/>
                <a:sym typeface="Calibri"/>
              </a:rPr>
              <a:t>✓  </a:t>
            </a:r>
            <a:r>
              <a:rPr b="0" i="0" lang="en-US" sz="1300" u="none" cap="none" strike="noStrike">
                <a:solidFill>
                  <a:srgbClr val="E6F1F7"/>
                </a:solidFill>
                <a:latin typeface="Calibri"/>
                <a:ea typeface="Calibri"/>
                <a:cs typeface="Calibri"/>
                <a:sym typeface="Calibri"/>
              </a:rPr>
              <a:t>Four-class classification with VGG16</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300"/>
              <a:buFont typeface="Calibri"/>
              <a:buNone/>
            </a:pPr>
            <a:r>
              <a:rPr b="1" i="0" lang="en-US" sz="1300" u="none" cap="none" strike="noStrike">
                <a:solidFill>
                  <a:srgbClr val="00C2A8"/>
                </a:solidFill>
                <a:latin typeface="Calibri"/>
                <a:ea typeface="Calibri"/>
                <a:cs typeface="Calibri"/>
                <a:sym typeface="Calibri"/>
              </a:rPr>
              <a:t>✓  </a:t>
            </a:r>
            <a:r>
              <a:rPr b="0" i="0" lang="en-US" sz="1300" u="none" cap="none" strike="noStrike">
                <a:solidFill>
                  <a:srgbClr val="E6F1F7"/>
                </a:solidFill>
                <a:latin typeface="Calibri"/>
                <a:ea typeface="Calibri"/>
                <a:cs typeface="Calibri"/>
                <a:sym typeface="Calibri"/>
              </a:rPr>
              <a:t>Glioma, meningioma, pituitary, no tumor</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300"/>
              <a:buFont typeface="Calibri"/>
              <a:buNone/>
            </a:pPr>
            <a:r>
              <a:rPr b="1" i="0" lang="en-US" sz="1300" u="none" cap="none" strike="noStrike">
                <a:solidFill>
                  <a:srgbClr val="00C2A8"/>
                </a:solidFill>
                <a:latin typeface="Calibri"/>
                <a:ea typeface="Calibri"/>
                <a:cs typeface="Calibri"/>
                <a:sym typeface="Calibri"/>
              </a:rPr>
              <a:t>✓  </a:t>
            </a:r>
            <a:r>
              <a:rPr b="0" i="0" lang="en-US" sz="1300" u="none" cap="none" strike="noStrike">
                <a:solidFill>
                  <a:srgbClr val="E6F1F7"/>
                </a:solidFill>
                <a:latin typeface="Calibri"/>
                <a:ea typeface="Calibri"/>
                <a:cs typeface="Calibri"/>
                <a:sym typeface="Calibri"/>
              </a:rPr>
              <a:t>Evaluated using Dice, IoU, F1, accuracy</a:t>
            </a:r>
            <a:endParaRPr b="0" i="0" sz="1300" u="none" cap="none" strike="noStrike">
              <a:solidFill>
                <a:schemeClr val="dk1"/>
              </a:solidFill>
              <a:latin typeface="Calibri"/>
              <a:ea typeface="Calibri"/>
              <a:cs typeface="Calibri"/>
              <a:sym typeface="Calibri"/>
            </a:endParaRPr>
          </a:p>
        </p:txBody>
      </p:sp>
      <p:sp>
        <p:nvSpPr>
          <p:cNvPr id="113" name="Google Shape;113;p8"/>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8"/>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116" name="Google Shape;116;p8"/>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21" name="Shape 121"/>
        <p:cNvGrpSpPr/>
        <p:nvPr/>
      </p:nvGrpSpPr>
      <p:grpSpPr>
        <a:xfrm>
          <a:off x="0" y="0"/>
          <a:ext cx="0" cy="0"/>
          <a:chOff x="0" y="0"/>
          <a:chExt cx="0" cy="0"/>
        </a:xfrm>
      </p:grpSpPr>
      <p:sp>
        <p:nvSpPr>
          <p:cNvPr id="122" name="Google Shape;122;p9"/>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02  •  LITERATURE REVIEW</a:t>
            </a:r>
            <a:endParaRPr b="0" i="0" sz="1200" u="none" cap="none" strike="noStrike">
              <a:solidFill>
                <a:schemeClr val="dk1"/>
              </a:solidFill>
              <a:latin typeface="Calibri"/>
              <a:ea typeface="Calibri"/>
              <a:cs typeface="Calibri"/>
              <a:sym typeface="Calibri"/>
            </a:endParaRPr>
          </a:p>
        </p:txBody>
      </p:sp>
      <p:sp>
        <p:nvSpPr>
          <p:cNvPr id="124" name="Google Shape;124;p9"/>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Four Papers That Shaped Our Approach</a:t>
            </a:r>
            <a:endParaRPr b="0" i="0" sz="3200" u="none" cap="none" strike="noStrike">
              <a:solidFill>
                <a:schemeClr val="dk1"/>
              </a:solidFill>
              <a:latin typeface="Calibri"/>
              <a:ea typeface="Calibri"/>
              <a:cs typeface="Calibri"/>
              <a:sym typeface="Calibri"/>
            </a:endParaRPr>
          </a:p>
        </p:txBody>
      </p:sp>
      <p:sp>
        <p:nvSpPr>
          <p:cNvPr id="125" name="Google Shape;125;p9"/>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548640" y="1965960"/>
            <a:ext cx="5532120" cy="2121408"/>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9"/>
          <p:cNvSpPr/>
          <p:nvPr/>
        </p:nvSpPr>
        <p:spPr>
          <a:xfrm>
            <a:off x="548640" y="1965960"/>
            <a:ext cx="91440" cy="2121408"/>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p:nvPr/>
        </p:nvSpPr>
        <p:spPr>
          <a:xfrm>
            <a:off x="822960" y="2130552"/>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PAPER 1  •  FOUNDATION</a:t>
            </a:r>
            <a:endParaRPr b="0" i="0" sz="1000" u="none" cap="none" strike="noStrike">
              <a:solidFill>
                <a:schemeClr val="dk1"/>
              </a:solidFill>
              <a:latin typeface="Calibri"/>
              <a:ea typeface="Calibri"/>
              <a:cs typeface="Calibri"/>
              <a:sym typeface="Calibri"/>
            </a:endParaRPr>
          </a:p>
        </p:txBody>
      </p:sp>
      <p:sp>
        <p:nvSpPr>
          <p:cNvPr id="129" name="Google Shape;129;p9"/>
          <p:cNvSpPr/>
          <p:nvPr/>
        </p:nvSpPr>
        <p:spPr>
          <a:xfrm>
            <a:off x="822960" y="2404872"/>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U-Net (Ronneberger et al., 2015)</a:t>
            </a:r>
            <a:endParaRPr b="0" i="0" sz="1600" u="none" cap="none" strike="noStrike">
              <a:solidFill>
                <a:schemeClr val="dk1"/>
              </a:solidFill>
              <a:latin typeface="Calibri"/>
              <a:ea typeface="Calibri"/>
              <a:cs typeface="Calibri"/>
              <a:sym typeface="Calibri"/>
            </a:endParaRPr>
          </a:p>
        </p:txBody>
      </p:sp>
      <p:sp>
        <p:nvSpPr>
          <p:cNvPr id="130" name="Google Shape;130;p9"/>
          <p:cNvSpPr/>
          <p:nvPr/>
        </p:nvSpPr>
        <p:spPr>
          <a:xfrm>
            <a:off x="822960" y="2834640"/>
            <a:ext cx="5074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The original U-Net paper. Introduced the encoder-decoder architecture with skip connections for biomedical image segmentation. Achieved an IoU of 0.92 on the ISBI 2015 cell-tracking challenge using very few annotated images — proving the architecture works even with limited data. This is the foundation our segmentation model is built on.</a:t>
            </a:r>
            <a:endParaRPr b="0" i="0" sz="1100" u="none" cap="none" strike="noStrike">
              <a:solidFill>
                <a:schemeClr val="dk1"/>
              </a:solidFill>
              <a:latin typeface="Calibri"/>
              <a:ea typeface="Calibri"/>
              <a:cs typeface="Calibri"/>
              <a:sym typeface="Calibri"/>
            </a:endParaRPr>
          </a:p>
        </p:txBody>
      </p:sp>
      <p:sp>
        <p:nvSpPr>
          <p:cNvPr id="131" name="Google Shape;131;p9"/>
          <p:cNvSpPr/>
          <p:nvPr/>
        </p:nvSpPr>
        <p:spPr>
          <a:xfrm>
            <a:off x="6263640" y="1965960"/>
            <a:ext cx="5532120" cy="2121408"/>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9"/>
          <p:cNvSpPr/>
          <p:nvPr/>
        </p:nvSpPr>
        <p:spPr>
          <a:xfrm>
            <a:off x="6263640" y="1965960"/>
            <a:ext cx="91440" cy="2121408"/>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p:nvPr/>
        </p:nvSpPr>
        <p:spPr>
          <a:xfrm>
            <a:off x="6537960" y="2130552"/>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PAPER 2  •  REFERENCE WORK</a:t>
            </a:r>
            <a:endParaRPr b="0" i="0" sz="1000" u="none" cap="none" strike="noStrike">
              <a:solidFill>
                <a:schemeClr val="dk1"/>
              </a:solidFill>
              <a:latin typeface="Calibri"/>
              <a:ea typeface="Calibri"/>
              <a:cs typeface="Calibri"/>
              <a:sym typeface="Calibri"/>
            </a:endParaRPr>
          </a:p>
        </p:txBody>
      </p:sp>
      <p:sp>
        <p:nvSpPr>
          <p:cNvPr id="134" name="Google Shape;134;p9"/>
          <p:cNvSpPr/>
          <p:nvPr/>
        </p:nvSpPr>
        <p:spPr>
          <a:xfrm>
            <a:off x="6537960" y="2404872"/>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Arafat et al. (2023)</a:t>
            </a:r>
            <a:endParaRPr b="0" i="0" sz="1600" u="none" cap="none" strike="noStrike">
              <a:solidFill>
                <a:schemeClr val="dk1"/>
              </a:solidFill>
              <a:latin typeface="Calibri"/>
              <a:ea typeface="Calibri"/>
              <a:cs typeface="Calibri"/>
              <a:sym typeface="Calibri"/>
            </a:endParaRPr>
          </a:p>
        </p:txBody>
      </p:sp>
      <p:sp>
        <p:nvSpPr>
          <p:cNvPr id="135" name="Google Shape;135;p9"/>
          <p:cNvSpPr/>
          <p:nvPr/>
        </p:nvSpPr>
        <p:spPr>
          <a:xfrm>
            <a:off x="6537960" y="2834640"/>
            <a:ext cx="5074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Brain Tumor MRI Segmentation and Classification using Deep Learning. Combined U-Net with a 16-layer CNN classifier on 3,064 images, applying skull-stripping for preprocessing. Reported a Dice coefficient of 0.94 and ~99% classification accuracy. This is the paper we benchmark our results against throughout the talk.</a:t>
            </a:r>
            <a:endParaRPr b="0" i="0" sz="1100" u="none" cap="none" strike="noStrike">
              <a:solidFill>
                <a:schemeClr val="dk1"/>
              </a:solidFill>
              <a:latin typeface="Calibri"/>
              <a:ea typeface="Calibri"/>
              <a:cs typeface="Calibri"/>
              <a:sym typeface="Calibri"/>
            </a:endParaRPr>
          </a:p>
        </p:txBody>
      </p:sp>
      <p:sp>
        <p:nvSpPr>
          <p:cNvPr id="136" name="Google Shape;136;p9"/>
          <p:cNvSpPr/>
          <p:nvPr/>
        </p:nvSpPr>
        <p:spPr>
          <a:xfrm>
            <a:off x="548640" y="4270248"/>
            <a:ext cx="5532120" cy="2121408"/>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548640" y="4270248"/>
            <a:ext cx="91440" cy="2121408"/>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822960" y="4434840"/>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PAPER </a:t>
            </a:r>
            <a:r>
              <a:rPr b="1" lang="en-US" sz="1000">
                <a:solidFill>
                  <a:srgbClr val="1C7293"/>
                </a:solidFill>
                <a:latin typeface="Calibri"/>
                <a:ea typeface="Calibri"/>
                <a:cs typeface="Calibri"/>
                <a:sym typeface="Calibri"/>
              </a:rPr>
              <a:t>3</a:t>
            </a:r>
            <a:r>
              <a:rPr b="1" i="0" lang="en-US" sz="1000" u="none" cap="none" strike="noStrike">
                <a:solidFill>
                  <a:srgbClr val="1C7293"/>
                </a:solidFill>
                <a:latin typeface="Calibri"/>
                <a:ea typeface="Calibri"/>
                <a:cs typeface="Calibri"/>
                <a:sym typeface="Calibri"/>
              </a:rPr>
              <a:t>  •  CLASSIFICATION</a:t>
            </a:r>
            <a:endParaRPr b="0" i="0" sz="1000" u="none" cap="none" strike="noStrike">
              <a:solidFill>
                <a:schemeClr val="dk1"/>
              </a:solidFill>
              <a:latin typeface="Calibri"/>
              <a:ea typeface="Calibri"/>
              <a:cs typeface="Calibri"/>
              <a:sym typeface="Calibri"/>
            </a:endParaRPr>
          </a:p>
        </p:txBody>
      </p:sp>
      <p:sp>
        <p:nvSpPr>
          <p:cNvPr id="139" name="Google Shape;139;p9"/>
          <p:cNvSpPr/>
          <p:nvPr/>
        </p:nvSpPr>
        <p:spPr>
          <a:xfrm>
            <a:off x="822960" y="4709160"/>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Fine-Tuned VGG16 (Multi-Class)</a:t>
            </a:r>
            <a:endParaRPr b="0" i="0" sz="1600" u="none" cap="none" strike="noStrike">
              <a:solidFill>
                <a:schemeClr val="dk1"/>
              </a:solidFill>
              <a:latin typeface="Calibri"/>
              <a:ea typeface="Calibri"/>
              <a:cs typeface="Calibri"/>
              <a:sym typeface="Calibri"/>
            </a:endParaRPr>
          </a:p>
        </p:txBody>
      </p:sp>
      <p:sp>
        <p:nvSpPr>
          <p:cNvPr id="140" name="Google Shape;140;p9"/>
          <p:cNvSpPr/>
          <p:nvPr/>
        </p:nvSpPr>
        <p:spPr>
          <a:xfrm>
            <a:off x="822960" y="5138928"/>
            <a:ext cx="5074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 transfer-learning approach that fine-tuned VGG16 with global average pooling, batch normalization, and dropout. Trained on a Kaggle dataset of 7,023 MRI scans across the same four classes we use. Reported 95% overall accuracy with strong per-class F1 scores — directly motivating our choice of VGG16 as the classifier.</a:t>
            </a:r>
            <a:endParaRPr b="0" i="0" sz="1100" u="none" cap="none" strike="noStrike">
              <a:solidFill>
                <a:schemeClr val="dk1"/>
              </a:solidFill>
              <a:latin typeface="Calibri"/>
              <a:ea typeface="Calibri"/>
              <a:cs typeface="Calibri"/>
              <a:sym typeface="Calibri"/>
            </a:endParaRPr>
          </a:p>
        </p:txBody>
      </p:sp>
      <p:sp>
        <p:nvSpPr>
          <p:cNvPr id="141" name="Google Shape;141;p9"/>
          <p:cNvSpPr/>
          <p:nvPr/>
        </p:nvSpPr>
        <p:spPr>
          <a:xfrm>
            <a:off x="6263640" y="4270248"/>
            <a:ext cx="5532120" cy="2121408"/>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6263640" y="4270248"/>
            <a:ext cx="91440" cy="2121408"/>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6537960" y="4434840"/>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PAPER </a:t>
            </a:r>
            <a:r>
              <a:rPr b="1" lang="en-US" sz="1000">
                <a:solidFill>
                  <a:srgbClr val="1C7293"/>
                </a:solidFill>
                <a:latin typeface="Calibri"/>
                <a:ea typeface="Calibri"/>
                <a:cs typeface="Calibri"/>
                <a:sym typeface="Calibri"/>
              </a:rPr>
              <a:t>4</a:t>
            </a:r>
            <a:r>
              <a:rPr b="1" i="0" lang="en-US" sz="1000" u="none" cap="none" strike="noStrike">
                <a:solidFill>
                  <a:srgbClr val="1C7293"/>
                </a:solidFill>
                <a:latin typeface="Calibri"/>
                <a:ea typeface="Calibri"/>
                <a:cs typeface="Calibri"/>
                <a:sym typeface="Calibri"/>
              </a:rPr>
              <a:t>  •  COMBINED PIPELINE</a:t>
            </a:r>
            <a:endParaRPr b="0" i="0" sz="1000" u="none" cap="none" strike="noStrike">
              <a:solidFill>
                <a:schemeClr val="dk1"/>
              </a:solidFill>
              <a:latin typeface="Calibri"/>
              <a:ea typeface="Calibri"/>
              <a:cs typeface="Calibri"/>
              <a:sym typeface="Calibri"/>
            </a:endParaRPr>
          </a:p>
        </p:txBody>
      </p:sp>
      <p:sp>
        <p:nvSpPr>
          <p:cNvPr id="144" name="Google Shape;144;p9"/>
          <p:cNvSpPr/>
          <p:nvPr/>
        </p:nvSpPr>
        <p:spPr>
          <a:xfrm>
            <a:off x="6537960" y="4709160"/>
            <a:ext cx="5074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600"/>
              <a:buFont typeface="Georgia"/>
              <a:buNone/>
            </a:pPr>
            <a:r>
              <a:rPr b="1" i="0" lang="en-US" sz="1600" u="none" cap="none" strike="noStrike">
                <a:solidFill>
                  <a:srgbClr val="0B1F3A"/>
                </a:solidFill>
                <a:latin typeface="Georgia"/>
                <a:ea typeface="Georgia"/>
                <a:cs typeface="Georgia"/>
                <a:sym typeface="Georgia"/>
              </a:rPr>
              <a:t>Multi-Scale SAM + VGG16</a:t>
            </a:r>
            <a:endParaRPr b="0" i="0" sz="1600" u="none" cap="none" strike="noStrike">
              <a:solidFill>
                <a:schemeClr val="dk1"/>
              </a:solidFill>
              <a:latin typeface="Calibri"/>
              <a:ea typeface="Calibri"/>
              <a:cs typeface="Calibri"/>
              <a:sym typeface="Calibri"/>
            </a:endParaRPr>
          </a:p>
        </p:txBody>
      </p:sp>
      <p:sp>
        <p:nvSpPr>
          <p:cNvPr id="145" name="Google Shape;145;p9"/>
          <p:cNvSpPr/>
          <p:nvPr/>
        </p:nvSpPr>
        <p:spPr>
          <a:xfrm>
            <a:off x="6537960" y="5138928"/>
            <a:ext cx="507492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 two-stage pipeline that first uses a Multi-Scale Detail-Enhanced Segment Anything Model (SAM) for tumor segmentation, then feeds the result into a VGG16 classifier. Achieved ~97% segmentation accuracy and 98% classification accuracy on 3,929 MRI scans — strong evidence that combining segmentation and classification in one pipeline is the right strategy.</a:t>
            </a:r>
            <a:endParaRPr b="0" i="0" sz="1100" u="none" cap="none" strike="noStrike">
              <a:solidFill>
                <a:schemeClr val="dk1"/>
              </a:solidFill>
              <a:latin typeface="Calibri"/>
              <a:ea typeface="Calibri"/>
              <a:cs typeface="Calibri"/>
              <a:sym typeface="Calibri"/>
            </a:endParaRPr>
          </a:p>
        </p:txBody>
      </p:sp>
      <p:sp>
        <p:nvSpPr>
          <p:cNvPr id="146" name="Google Shape;146;p9"/>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149" name="Google Shape;149;p9"/>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4" name="Shape 154"/>
        <p:cNvGrpSpPr/>
        <p:nvPr/>
      </p:nvGrpSpPr>
      <p:grpSpPr>
        <a:xfrm>
          <a:off x="0" y="0"/>
          <a:ext cx="0" cy="0"/>
          <a:chOff x="0" y="0"/>
          <a:chExt cx="0" cy="0"/>
        </a:xfrm>
      </p:grpSpPr>
      <p:sp>
        <p:nvSpPr>
          <p:cNvPr id="155" name="Google Shape;155;p10"/>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DATASET</a:t>
            </a:r>
            <a:endParaRPr b="0" i="0" sz="1200" u="none" cap="none" strike="noStrike">
              <a:solidFill>
                <a:schemeClr val="dk1"/>
              </a:solidFill>
              <a:latin typeface="Calibri"/>
              <a:ea typeface="Calibri"/>
              <a:cs typeface="Calibri"/>
              <a:sym typeface="Calibri"/>
            </a:endParaRPr>
          </a:p>
        </p:txBody>
      </p:sp>
      <p:sp>
        <p:nvSpPr>
          <p:cNvPr id="157" name="Google Shape;157;p10"/>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BRISC 2025 — Overview</a:t>
            </a:r>
            <a:endParaRPr b="0" i="0" sz="3200" u="none" cap="none" strike="noStrike">
              <a:solidFill>
                <a:schemeClr val="dk1"/>
              </a:solidFill>
              <a:latin typeface="Calibri"/>
              <a:ea typeface="Calibri"/>
              <a:cs typeface="Calibri"/>
              <a:sym typeface="Calibri"/>
            </a:endParaRPr>
          </a:p>
        </p:txBody>
      </p:sp>
      <p:sp>
        <p:nvSpPr>
          <p:cNvPr id="158" name="Google Shape;158;p10"/>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0"/>
          <p:cNvSpPr/>
          <p:nvPr/>
        </p:nvSpPr>
        <p:spPr>
          <a:xfrm>
            <a:off x="548640" y="1965960"/>
            <a:ext cx="5303520" cy="429768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0"/>
          <p:cNvSpPr/>
          <p:nvPr/>
        </p:nvSpPr>
        <p:spPr>
          <a:xfrm>
            <a:off x="548640" y="1965960"/>
            <a:ext cx="530352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0"/>
          <p:cNvSpPr/>
          <p:nvPr/>
        </p:nvSpPr>
        <p:spPr>
          <a:xfrm>
            <a:off x="777240" y="219456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100"/>
              <a:buFont typeface="Calibri"/>
              <a:buNone/>
            </a:pPr>
            <a:r>
              <a:rPr b="1" i="0" lang="en-US" sz="1100" u="none" cap="none" strike="noStrike">
                <a:solidFill>
                  <a:srgbClr val="00C2A8"/>
                </a:solidFill>
                <a:latin typeface="Calibri"/>
                <a:ea typeface="Calibri"/>
                <a:cs typeface="Calibri"/>
                <a:sym typeface="Calibri"/>
              </a:rPr>
              <a:t>DATA SOURCE</a:t>
            </a:r>
            <a:endParaRPr b="0" i="0" sz="1100" u="none" cap="none" strike="noStrike">
              <a:solidFill>
                <a:schemeClr val="dk1"/>
              </a:solidFill>
              <a:latin typeface="Calibri"/>
              <a:ea typeface="Calibri"/>
              <a:cs typeface="Calibri"/>
              <a:sym typeface="Calibri"/>
            </a:endParaRPr>
          </a:p>
        </p:txBody>
      </p:sp>
      <p:sp>
        <p:nvSpPr>
          <p:cNvPr id="162" name="Google Shape;162;p10"/>
          <p:cNvSpPr/>
          <p:nvPr/>
        </p:nvSpPr>
        <p:spPr>
          <a:xfrm>
            <a:off x="777240" y="2487168"/>
            <a:ext cx="48463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Georgia"/>
              <a:buNone/>
            </a:pPr>
            <a:r>
              <a:rPr b="1" i="0" lang="en-US" sz="2200" u="none" cap="none" strike="noStrike">
                <a:solidFill>
                  <a:srgbClr val="FFFFFF"/>
                </a:solidFill>
                <a:latin typeface="Georgia"/>
                <a:ea typeface="Georgia"/>
                <a:cs typeface="Georgia"/>
                <a:sym typeface="Georgia"/>
              </a:rPr>
              <a:t>Kaggle  —  BRISC 2025</a:t>
            </a:r>
            <a:endParaRPr b="0" i="0" sz="2200" u="none" cap="none" strike="noStrike">
              <a:solidFill>
                <a:schemeClr val="dk1"/>
              </a:solidFill>
              <a:latin typeface="Calibri"/>
              <a:ea typeface="Calibri"/>
              <a:cs typeface="Calibri"/>
              <a:sym typeface="Calibri"/>
            </a:endParaRPr>
          </a:p>
        </p:txBody>
      </p:sp>
      <p:sp>
        <p:nvSpPr>
          <p:cNvPr id="163" name="Google Shape;163;p10"/>
          <p:cNvSpPr/>
          <p:nvPr/>
        </p:nvSpPr>
        <p:spPr>
          <a:xfrm>
            <a:off x="777240" y="3063240"/>
            <a:ext cx="484632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F1F7"/>
              </a:buClr>
              <a:buSzPts val="1200"/>
              <a:buFont typeface="Calibri"/>
              <a:buNone/>
            </a:pPr>
            <a:r>
              <a:rPr b="0" i="0" lang="en-US" sz="1200" u="none" cap="none" strike="noStrike">
                <a:solidFill>
                  <a:srgbClr val="E6F1F7"/>
                </a:solidFill>
                <a:latin typeface="Calibri"/>
                <a:ea typeface="Calibri"/>
                <a:cs typeface="Calibri"/>
                <a:sym typeface="Calibri"/>
              </a:rPr>
              <a:t>Brain Tumor Reference Image Set for Classification — a curated, publicly available MRI dataset hosted on Kaggle. It ships pre-split into train and test folders for both tasks, with paired image–mask annotations for segmentation and class-labeled folders for classification.</a:t>
            </a:r>
            <a:endParaRPr b="0" i="0" sz="1200" u="none" cap="none" strike="noStrike">
              <a:solidFill>
                <a:schemeClr val="dk1"/>
              </a:solidFill>
              <a:latin typeface="Calibri"/>
              <a:ea typeface="Calibri"/>
              <a:cs typeface="Calibri"/>
              <a:sym typeface="Calibri"/>
            </a:endParaRPr>
          </a:p>
        </p:txBody>
      </p:sp>
      <p:sp>
        <p:nvSpPr>
          <p:cNvPr id="164" name="Google Shape;164;p10"/>
          <p:cNvSpPr/>
          <p:nvPr/>
        </p:nvSpPr>
        <p:spPr>
          <a:xfrm>
            <a:off x="777240" y="4892040"/>
            <a:ext cx="4846320" cy="18288"/>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777240" y="5029200"/>
            <a:ext cx="48463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Two parallel tasks: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E6F1F7"/>
                </a:solidFill>
                <a:latin typeface="Calibri"/>
                <a:ea typeface="Calibri"/>
                <a:cs typeface="Calibri"/>
                <a:sym typeface="Calibri"/>
              </a:rPr>
              <a:t>Classification — 4 tumor types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E6F1F7"/>
                </a:solidFill>
                <a:latin typeface="Calibri"/>
                <a:ea typeface="Calibri"/>
                <a:cs typeface="Calibri"/>
                <a:sym typeface="Calibri"/>
              </a:rPr>
              <a:t>Segmentation — pixel-wise tumor masks</a:t>
            </a:r>
            <a:endParaRPr b="0" i="0" sz="1200" u="none" cap="none" strike="noStrike">
              <a:solidFill>
                <a:schemeClr val="dk1"/>
              </a:solidFill>
              <a:latin typeface="Calibri"/>
              <a:ea typeface="Calibri"/>
              <a:cs typeface="Calibri"/>
              <a:sym typeface="Calibri"/>
            </a:endParaRPr>
          </a:p>
        </p:txBody>
      </p:sp>
      <p:sp>
        <p:nvSpPr>
          <p:cNvPr id="166" name="Google Shape;166;p10"/>
          <p:cNvSpPr/>
          <p:nvPr/>
        </p:nvSpPr>
        <p:spPr>
          <a:xfrm>
            <a:off x="612648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Georgia"/>
              <a:buNone/>
            </a:pPr>
            <a:r>
              <a:rPr b="1" i="0" lang="en-US" sz="1600" u="none" cap="none" strike="noStrike">
                <a:solidFill>
                  <a:srgbClr val="1C7293"/>
                </a:solidFill>
                <a:latin typeface="Georgia"/>
                <a:ea typeface="Georgia"/>
                <a:cs typeface="Georgia"/>
                <a:sym typeface="Georgia"/>
              </a:rPr>
              <a:t>Repository Structure</a:t>
            </a:r>
            <a:endParaRPr b="0" i="0" sz="1600" u="none" cap="none" strike="noStrike">
              <a:solidFill>
                <a:schemeClr val="dk1"/>
              </a:solidFill>
              <a:latin typeface="Calibri"/>
              <a:ea typeface="Calibri"/>
              <a:cs typeface="Calibri"/>
              <a:sym typeface="Calibri"/>
            </a:endParaRPr>
          </a:p>
        </p:txBody>
      </p:sp>
      <p:sp>
        <p:nvSpPr>
          <p:cNvPr id="167" name="Google Shape;167;p10"/>
          <p:cNvSpPr/>
          <p:nvPr/>
        </p:nvSpPr>
        <p:spPr>
          <a:xfrm>
            <a:off x="6126480" y="2377440"/>
            <a:ext cx="5486400" cy="3886200"/>
          </a:xfrm>
          <a:prstGeom prst="rect">
            <a:avLst/>
          </a:prstGeom>
          <a:solidFill>
            <a:srgbClr val="FFFFFF"/>
          </a:solidFill>
          <a:ln cap="flat" cmpd="sng" w="12700">
            <a:solidFill>
              <a:srgbClr val="E6F1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6263640" y="2514600"/>
            <a:ext cx="5212080" cy="365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950"/>
              <a:buFont typeface="Consolas"/>
              <a:buNone/>
            </a:pPr>
            <a:r>
              <a:rPr b="1" i="0" lang="en-US" sz="950" u="none" cap="none" strike="noStrike">
                <a:solidFill>
                  <a:srgbClr val="0B1F3A"/>
                </a:solidFill>
                <a:latin typeface="Consolas"/>
                <a:ea typeface="Consolas"/>
                <a:cs typeface="Consolas"/>
                <a:sym typeface="Consolas"/>
              </a:rPr>
              <a:t>brisc2025/</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65A82"/>
              </a:buClr>
              <a:buSzPts val="950"/>
              <a:buFont typeface="Consolas"/>
              <a:buNone/>
            </a:pPr>
            <a:r>
              <a:rPr b="1" i="0" lang="en-US" sz="950" u="none" cap="none" strike="noStrike">
                <a:solidFill>
                  <a:srgbClr val="065A82"/>
                </a:solidFill>
                <a:latin typeface="Consolas"/>
                <a:ea typeface="Consolas"/>
                <a:cs typeface="Consolas"/>
                <a:sym typeface="Consolas"/>
              </a:rPr>
              <a:t>    classification_task/</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train/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glioma/         (1,147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meningioma/   (1,329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no_tumor/      (1,067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pituitary/        (1,457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test/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glioma/         (254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meningioma/   (306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no_tumor/      (140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pituitary/        (300 images)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65A82"/>
              </a:buClr>
              <a:buSzPts val="950"/>
              <a:buFont typeface="Consolas"/>
              <a:buNone/>
            </a:pPr>
            <a:r>
              <a:rPr b="1" i="0" lang="en-US" sz="950" u="none" cap="none" strike="noStrike">
                <a:solidFill>
                  <a:srgbClr val="065A82"/>
                </a:solidFill>
                <a:latin typeface="Consolas"/>
                <a:ea typeface="Consolas"/>
                <a:cs typeface="Consolas"/>
                <a:sym typeface="Consolas"/>
              </a:rPr>
              <a:t>    segmentation_task/</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train/</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images/         (3,933 files)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masks/         (3,933 files)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test/</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images/         (860 files)</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950"/>
              <a:buFont typeface="Consolas"/>
              <a:buNone/>
            </a:pPr>
            <a:r>
              <a:rPr b="0" i="0" lang="en-US" sz="950" u="none" cap="none" strike="noStrike">
                <a:solidFill>
                  <a:srgbClr val="1E293B"/>
                </a:solidFill>
                <a:latin typeface="Consolas"/>
                <a:ea typeface="Consolas"/>
                <a:cs typeface="Consolas"/>
                <a:sym typeface="Consolas"/>
              </a:rPr>
              <a:t>            masks/         (860 files)</a:t>
            </a:r>
            <a:endParaRPr b="0" i="0" sz="950" u="none" cap="none" strike="noStrike">
              <a:solidFill>
                <a:schemeClr val="dk1"/>
              </a:solidFill>
              <a:latin typeface="Calibri"/>
              <a:ea typeface="Calibri"/>
              <a:cs typeface="Calibri"/>
              <a:sym typeface="Calibri"/>
            </a:endParaRPr>
          </a:p>
        </p:txBody>
      </p:sp>
      <p:sp>
        <p:nvSpPr>
          <p:cNvPr id="169" name="Google Shape;169;p10"/>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172" name="Google Shape;172;p10"/>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77" name="Shape 177"/>
        <p:cNvGrpSpPr/>
        <p:nvPr/>
      </p:nvGrpSpPr>
      <p:grpSpPr>
        <a:xfrm>
          <a:off x="0" y="0"/>
          <a:ext cx="0" cy="0"/>
          <a:chOff x="0" y="0"/>
          <a:chExt cx="0" cy="0"/>
        </a:xfrm>
      </p:grpSpPr>
      <p:sp>
        <p:nvSpPr>
          <p:cNvPr id="178" name="Google Shape;178;p11"/>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DATASET</a:t>
            </a:r>
            <a:endParaRPr b="0" i="0" sz="1200" u="none" cap="none" strike="noStrike">
              <a:solidFill>
                <a:schemeClr val="dk1"/>
              </a:solidFill>
              <a:latin typeface="Calibri"/>
              <a:ea typeface="Calibri"/>
              <a:cs typeface="Calibri"/>
              <a:sym typeface="Calibri"/>
            </a:endParaRPr>
          </a:p>
        </p:txBody>
      </p:sp>
      <p:sp>
        <p:nvSpPr>
          <p:cNvPr id="180" name="Google Shape;180;p11"/>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Classification Task</a:t>
            </a:r>
            <a:endParaRPr b="0" i="0" sz="3200" u="none" cap="none" strike="noStrike">
              <a:solidFill>
                <a:schemeClr val="dk1"/>
              </a:solidFill>
              <a:latin typeface="Calibri"/>
              <a:ea typeface="Calibri"/>
              <a:cs typeface="Calibri"/>
              <a:sym typeface="Calibri"/>
            </a:endParaRPr>
          </a:p>
        </p:txBody>
      </p:sp>
      <p:sp>
        <p:nvSpPr>
          <p:cNvPr id="181" name="Google Shape;181;p11"/>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a:off x="54864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a:off x="54864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
          <p:cNvSpPr/>
          <p:nvPr/>
        </p:nvSpPr>
        <p:spPr>
          <a:xfrm>
            <a:off x="68580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6,000</a:t>
            </a:r>
            <a:endParaRPr b="0" i="0" sz="2600" u="none" cap="none" strike="noStrike">
              <a:solidFill>
                <a:schemeClr val="dk1"/>
              </a:solidFill>
              <a:latin typeface="Calibri"/>
              <a:ea typeface="Calibri"/>
              <a:cs typeface="Calibri"/>
              <a:sym typeface="Calibri"/>
            </a:endParaRPr>
          </a:p>
        </p:txBody>
      </p:sp>
      <p:sp>
        <p:nvSpPr>
          <p:cNvPr id="185" name="Google Shape;185;p11"/>
          <p:cNvSpPr/>
          <p:nvPr/>
        </p:nvSpPr>
        <p:spPr>
          <a:xfrm>
            <a:off x="68580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Total Images</a:t>
            </a:r>
            <a:endParaRPr b="0" i="0" sz="1100" u="none" cap="none" strike="noStrike">
              <a:solidFill>
                <a:schemeClr val="dk1"/>
              </a:solidFill>
              <a:latin typeface="Calibri"/>
              <a:ea typeface="Calibri"/>
              <a:cs typeface="Calibri"/>
              <a:sym typeface="Calibri"/>
            </a:endParaRPr>
          </a:p>
        </p:txBody>
      </p:sp>
      <p:sp>
        <p:nvSpPr>
          <p:cNvPr id="186" name="Google Shape;186;p11"/>
          <p:cNvSpPr/>
          <p:nvPr/>
        </p:nvSpPr>
        <p:spPr>
          <a:xfrm>
            <a:off x="438912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a:off x="438912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a:off x="452628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5,000 / 1,000</a:t>
            </a:r>
            <a:endParaRPr b="0" i="0" sz="2600" u="none" cap="none" strike="noStrike">
              <a:solidFill>
                <a:schemeClr val="dk1"/>
              </a:solidFill>
              <a:latin typeface="Calibri"/>
              <a:ea typeface="Calibri"/>
              <a:cs typeface="Calibri"/>
              <a:sym typeface="Calibri"/>
            </a:endParaRPr>
          </a:p>
        </p:txBody>
      </p:sp>
      <p:sp>
        <p:nvSpPr>
          <p:cNvPr id="189" name="Google Shape;189;p11"/>
          <p:cNvSpPr/>
          <p:nvPr/>
        </p:nvSpPr>
        <p:spPr>
          <a:xfrm>
            <a:off x="452628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Train / Test Split</a:t>
            </a:r>
            <a:endParaRPr b="0" i="0" sz="1100" u="none" cap="none" strike="noStrike">
              <a:solidFill>
                <a:schemeClr val="dk1"/>
              </a:solidFill>
              <a:latin typeface="Calibri"/>
              <a:ea typeface="Calibri"/>
              <a:cs typeface="Calibri"/>
              <a:sym typeface="Calibri"/>
            </a:endParaRPr>
          </a:p>
        </p:txBody>
      </p:sp>
      <p:sp>
        <p:nvSpPr>
          <p:cNvPr id="190" name="Google Shape;190;p11"/>
          <p:cNvSpPr/>
          <p:nvPr/>
        </p:nvSpPr>
        <p:spPr>
          <a:xfrm>
            <a:off x="822960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822960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836676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4</a:t>
            </a:r>
            <a:endParaRPr b="0" i="0" sz="2600" u="none" cap="none" strike="noStrike">
              <a:solidFill>
                <a:schemeClr val="dk1"/>
              </a:solidFill>
              <a:latin typeface="Calibri"/>
              <a:ea typeface="Calibri"/>
              <a:cs typeface="Calibri"/>
              <a:sym typeface="Calibri"/>
            </a:endParaRPr>
          </a:p>
        </p:txBody>
      </p:sp>
      <p:sp>
        <p:nvSpPr>
          <p:cNvPr id="193" name="Google Shape;193;p11"/>
          <p:cNvSpPr/>
          <p:nvPr/>
        </p:nvSpPr>
        <p:spPr>
          <a:xfrm>
            <a:off x="836676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Tumor Classes</a:t>
            </a:r>
            <a:endParaRPr b="0" i="0" sz="1100" u="none" cap="none" strike="noStrike">
              <a:solidFill>
                <a:schemeClr val="dk1"/>
              </a:solidFill>
              <a:latin typeface="Calibri"/>
              <a:ea typeface="Calibri"/>
              <a:cs typeface="Calibri"/>
              <a:sym typeface="Calibri"/>
            </a:endParaRPr>
          </a:p>
        </p:txBody>
      </p:sp>
      <p:sp>
        <p:nvSpPr>
          <p:cNvPr id="194" name="Google Shape;194;p11"/>
          <p:cNvSpPr/>
          <p:nvPr/>
        </p:nvSpPr>
        <p:spPr>
          <a:xfrm>
            <a:off x="548640" y="31089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Class Distribution</a:t>
            </a:r>
            <a:endParaRPr b="0" i="0" sz="1300" u="none" cap="none" strike="noStrike">
              <a:solidFill>
                <a:schemeClr val="dk1"/>
              </a:solidFill>
              <a:latin typeface="Calibri"/>
              <a:ea typeface="Calibri"/>
              <a:cs typeface="Calibri"/>
              <a:sym typeface="Calibri"/>
            </a:endParaRPr>
          </a:p>
        </p:txBody>
      </p:sp>
      <p:graphicFrame>
        <p:nvGraphicFramePr>
          <p:cNvPr id="195" name="Google Shape;195;p11"/>
          <p:cNvGraphicFramePr/>
          <p:nvPr/>
        </p:nvGraphicFramePr>
        <p:xfrm>
          <a:off x="548640" y="3474720"/>
          <a:ext cx="3000000" cy="3000000"/>
        </p:xfrm>
        <a:graphic>
          <a:graphicData uri="http://schemas.openxmlformats.org/drawingml/2006/table">
            <a:tbl>
              <a:tblPr>
                <a:noFill/>
                <a:tableStyleId>{0790E38C-9CE1-4DA7-A72B-BB579594EDED}</a:tableStyleId>
              </a:tblPr>
              <a:tblGrid>
                <a:gridCol w="1920250"/>
                <a:gridCol w="1188725"/>
                <a:gridCol w="1188725"/>
                <a:gridCol w="1188725"/>
              </a:tblGrid>
              <a:tr h="24690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Class</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Train</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Test</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Total</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r>
              <a:tr h="24690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Glioma</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1,147</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254</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1,401</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4690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Meningioma</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1,329</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306</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1,635</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4690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No Tumor</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1,067</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140</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1,207</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46900">
                <a:tc>
                  <a:txBody>
                    <a:bodyPr/>
                    <a:lstStyle/>
                    <a:p>
                      <a:pPr indent="0" lvl="0" marL="0" marR="0" rtl="0" algn="l">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Pituitary</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1,457</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300</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000"/>
                        <a:buFont typeface="Calibri"/>
                        <a:buNone/>
                      </a:pPr>
                      <a:r>
                        <a:rPr lang="en-US" sz="1000" u="none" cap="none" strike="noStrike">
                          <a:solidFill>
                            <a:srgbClr val="1E293B"/>
                          </a:solidFill>
                          <a:latin typeface="Calibri"/>
                          <a:ea typeface="Calibri"/>
                          <a:cs typeface="Calibri"/>
                          <a:sym typeface="Calibri"/>
                        </a:rPr>
                        <a:t>1,757</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246900">
                <a:tc>
                  <a:txBody>
                    <a:bodyPr/>
                    <a:lstStyle/>
                    <a:p>
                      <a:pPr indent="0" lvl="0" marL="0" marR="0" rtl="0" algn="l">
                        <a:spcBef>
                          <a:spcPts val="0"/>
                        </a:spcBef>
                        <a:spcAft>
                          <a:spcPts val="0"/>
                        </a:spcAft>
                        <a:buClr>
                          <a:srgbClr val="1E293B"/>
                        </a:buClr>
                        <a:buSzPts val="1000"/>
                        <a:buFont typeface="Calibri"/>
                        <a:buNone/>
                      </a:pPr>
                      <a:r>
                        <a:rPr b="1" lang="en-US" sz="1000" u="none" cap="none" strike="noStrike">
                          <a:solidFill>
                            <a:srgbClr val="1E293B"/>
                          </a:solidFill>
                          <a:latin typeface="Calibri"/>
                          <a:ea typeface="Calibri"/>
                          <a:cs typeface="Calibri"/>
                          <a:sym typeface="Calibri"/>
                        </a:rPr>
                        <a:t>Total</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6F1F7"/>
                    </a:solidFill>
                  </a:tcPr>
                </a:tc>
                <a:tc>
                  <a:txBody>
                    <a:bodyPr/>
                    <a:lstStyle/>
                    <a:p>
                      <a:pPr indent="0" lvl="0" marL="0" marR="0" rtl="0" algn="ctr">
                        <a:spcBef>
                          <a:spcPts val="0"/>
                        </a:spcBef>
                        <a:spcAft>
                          <a:spcPts val="0"/>
                        </a:spcAft>
                        <a:buClr>
                          <a:srgbClr val="1E293B"/>
                        </a:buClr>
                        <a:buSzPts val="1000"/>
                        <a:buFont typeface="Calibri"/>
                        <a:buNone/>
                      </a:pPr>
                      <a:r>
                        <a:rPr b="1" lang="en-US" sz="1000" u="none" cap="none" strike="noStrike">
                          <a:solidFill>
                            <a:srgbClr val="1E293B"/>
                          </a:solidFill>
                          <a:latin typeface="Calibri"/>
                          <a:ea typeface="Calibri"/>
                          <a:cs typeface="Calibri"/>
                          <a:sym typeface="Calibri"/>
                        </a:rPr>
                        <a:t>5,000</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6F1F7"/>
                    </a:solidFill>
                  </a:tcPr>
                </a:tc>
                <a:tc>
                  <a:txBody>
                    <a:bodyPr/>
                    <a:lstStyle/>
                    <a:p>
                      <a:pPr indent="0" lvl="0" marL="0" marR="0" rtl="0" algn="ctr">
                        <a:spcBef>
                          <a:spcPts val="0"/>
                        </a:spcBef>
                        <a:spcAft>
                          <a:spcPts val="0"/>
                        </a:spcAft>
                        <a:buClr>
                          <a:srgbClr val="1E293B"/>
                        </a:buClr>
                        <a:buSzPts val="1000"/>
                        <a:buFont typeface="Calibri"/>
                        <a:buNone/>
                      </a:pPr>
                      <a:r>
                        <a:rPr b="1" lang="en-US" sz="1000" u="none" cap="none" strike="noStrike">
                          <a:solidFill>
                            <a:srgbClr val="1E293B"/>
                          </a:solidFill>
                          <a:latin typeface="Calibri"/>
                          <a:ea typeface="Calibri"/>
                          <a:cs typeface="Calibri"/>
                          <a:sym typeface="Calibri"/>
                        </a:rPr>
                        <a:t>1,000</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6F1F7"/>
                    </a:solidFill>
                  </a:tcPr>
                </a:tc>
                <a:tc>
                  <a:txBody>
                    <a:bodyPr/>
                    <a:lstStyle/>
                    <a:p>
                      <a:pPr indent="0" lvl="0" marL="0" marR="0" rtl="0" algn="ctr">
                        <a:spcBef>
                          <a:spcPts val="0"/>
                        </a:spcBef>
                        <a:spcAft>
                          <a:spcPts val="0"/>
                        </a:spcAft>
                        <a:buClr>
                          <a:srgbClr val="1E293B"/>
                        </a:buClr>
                        <a:buSzPts val="1000"/>
                        <a:buFont typeface="Calibri"/>
                        <a:buNone/>
                      </a:pPr>
                      <a:r>
                        <a:rPr b="1" lang="en-US" sz="1000" u="none" cap="none" strike="noStrike">
                          <a:solidFill>
                            <a:srgbClr val="1E293B"/>
                          </a:solidFill>
                          <a:latin typeface="Calibri"/>
                          <a:ea typeface="Calibri"/>
                          <a:cs typeface="Calibri"/>
                          <a:sym typeface="Calibri"/>
                        </a:rPr>
                        <a:t>6,000</a:t>
                      </a:r>
                      <a:endParaRPr sz="10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E6F1F7"/>
                    </a:solidFill>
                  </a:tcPr>
                </a:tc>
              </a:tr>
            </a:tbl>
          </a:graphicData>
        </a:graphic>
      </p:graphicFrame>
      <p:sp>
        <p:nvSpPr>
          <p:cNvPr id="196" name="Google Shape;196;p11"/>
          <p:cNvSpPr/>
          <p:nvPr/>
        </p:nvSpPr>
        <p:spPr>
          <a:xfrm>
            <a:off x="6263640" y="31089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Train Distribution</a:t>
            </a:r>
            <a:endParaRPr b="0" i="0" sz="1300" u="none" cap="none" strike="noStrike">
              <a:solidFill>
                <a:schemeClr val="dk1"/>
              </a:solidFill>
              <a:latin typeface="Calibri"/>
              <a:ea typeface="Calibri"/>
              <a:cs typeface="Calibri"/>
              <a:sym typeface="Calibri"/>
            </a:endParaRPr>
          </a:p>
        </p:txBody>
      </p:sp>
      <p:pic>
        <p:nvPicPr>
          <p:cNvPr id="197" name="Google Shape;197;p11"/>
          <p:cNvPicPr preferRelativeResize="0"/>
          <p:nvPr/>
        </p:nvPicPr>
        <p:blipFill rotWithShape="1">
          <a:blip r:embed="rId3">
            <a:alphaModFix/>
          </a:blip>
          <a:srcRect b="0" l="0" r="0" t="0"/>
          <a:stretch/>
        </p:blipFill>
        <p:spPr>
          <a:xfrm>
            <a:off x="6126480" y="3429000"/>
            <a:ext cx="3108960" cy="2834640"/>
          </a:xfrm>
          <a:prstGeom prst="rect">
            <a:avLst/>
          </a:prstGeom>
          <a:noFill/>
          <a:ln>
            <a:noFill/>
          </a:ln>
        </p:spPr>
      </p:pic>
      <p:sp>
        <p:nvSpPr>
          <p:cNvPr id="198" name="Google Shape;198;p11"/>
          <p:cNvSpPr/>
          <p:nvPr/>
        </p:nvSpPr>
        <p:spPr>
          <a:xfrm>
            <a:off x="9418320" y="3108960"/>
            <a:ext cx="21945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Sample MRI Scan</a:t>
            </a:r>
            <a:endParaRPr b="0" i="0" sz="1300" u="none" cap="none" strike="noStrike">
              <a:solidFill>
                <a:schemeClr val="dk1"/>
              </a:solidFill>
              <a:latin typeface="Calibri"/>
              <a:ea typeface="Calibri"/>
              <a:cs typeface="Calibri"/>
              <a:sym typeface="Calibri"/>
            </a:endParaRPr>
          </a:p>
        </p:txBody>
      </p:sp>
      <p:sp>
        <p:nvSpPr>
          <p:cNvPr id="199" name="Google Shape;199;p11"/>
          <p:cNvSpPr/>
          <p:nvPr/>
        </p:nvSpPr>
        <p:spPr>
          <a:xfrm>
            <a:off x="9418320" y="5715000"/>
            <a:ext cx="219456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1" lang="en-US" sz="900" u="none" cap="none" strike="noStrike">
                <a:solidFill>
                  <a:srgbClr val="64748B"/>
                </a:solidFill>
                <a:latin typeface="Calibri"/>
                <a:ea typeface="Calibri"/>
                <a:cs typeface="Calibri"/>
                <a:sym typeface="Calibri"/>
              </a:rPr>
              <a:t>e.g. one glioma scan</a:t>
            </a:r>
            <a:endParaRPr b="0" i="0" sz="900" u="none" cap="none" strike="noStrike">
              <a:solidFill>
                <a:schemeClr val="dk1"/>
              </a:solidFill>
              <a:latin typeface="Calibri"/>
              <a:ea typeface="Calibri"/>
              <a:cs typeface="Calibri"/>
              <a:sym typeface="Calibri"/>
            </a:endParaRPr>
          </a:p>
        </p:txBody>
      </p:sp>
      <p:sp>
        <p:nvSpPr>
          <p:cNvPr id="200" name="Google Shape;200;p11"/>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203" name="Google Shape;203;p11"/>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id="204" name="Google Shape;204;p11"/>
          <p:cNvPicPr preferRelativeResize="0"/>
          <p:nvPr/>
        </p:nvPicPr>
        <p:blipFill>
          <a:blip r:embed="rId4">
            <a:alphaModFix/>
          </a:blip>
          <a:stretch>
            <a:fillRect/>
          </a:stretch>
        </p:blipFill>
        <p:spPr>
          <a:xfrm>
            <a:off x="9387840" y="3581400"/>
            <a:ext cx="1981201" cy="1981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09" name="Shape 209"/>
        <p:cNvGrpSpPr/>
        <p:nvPr/>
      </p:nvGrpSpPr>
      <p:grpSpPr>
        <a:xfrm>
          <a:off x="0" y="0"/>
          <a:ext cx="0" cy="0"/>
          <a:chOff x="0" y="0"/>
          <a:chExt cx="0" cy="0"/>
        </a:xfrm>
      </p:grpSpPr>
      <p:sp>
        <p:nvSpPr>
          <p:cNvPr id="210" name="Google Shape;210;p12"/>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03  •  DATASET</a:t>
            </a:r>
            <a:endParaRPr b="0" i="0" sz="1200" u="none" cap="none" strike="noStrike">
              <a:solidFill>
                <a:schemeClr val="dk1"/>
              </a:solidFill>
              <a:latin typeface="Calibri"/>
              <a:ea typeface="Calibri"/>
              <a:cs typeface="Calibri"/>
              <a:sym typeface="Calibri"/>
            </a:endParaRPr>
          </a:p>
        </p:txBody>
      </p:sp>
      <p:sp>
        <p:nvSpPr>
          <p:cNvPr id="212" name="Google Shape;212;p12"/>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Segmentation Task</a:t>
            </a:r>
            <a:endParaRPr b="0" i="0" sz="3200" u="none" cap="none" strike="noStrike">
              <a:solidFill>
                <a:schemeClr val="dk1"/>
              </a:solidFill>
              <a:latin typeface="Calibri"/>
              <a:ea typeface="Calibri"/>
              <a:cs typeface="Calibri"/>
              <a:sym typeface="Calibri"/>
            </a:endParaRPr>
          </a:p>
        </p:txBody>
      </p:sp>
      <p:sp>
        <p:nvSpPr>
          <p:cNvPr id="213" name="Google Shape;213;p12"/>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54864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p:nvPr/>
        </p:nvSpPr>
        <p:spPr>
          <a:xfrm>
            <a:off x="54864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2"/>
          <p:cNvSpPr/>
          <p:nvPr/>
        </p:nvSpPr>
        <p:spPr>
          <a:xfrm>
            <a:off x="68580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4,793</a:t>
            </a:r>
            <a:endParaRPr b="0" i="0" sz="2600" u="none" cap="none" strike="noStrike">
              <a:solidFill>
                <a:schemeClr val="dk1"/>
              </a:solidFill>
              <a:latin typeface="Calibri"/>
              <a:ea typeface="Calibri"/>
              <a:cs typeface="Calibri"/>
              <a:sym typeface="Calibri"/>
            </a:endParaRPr>
          </a:p>
        </p:txBody>
      </p:sp>
      <p:sp>
        <p:nvSpPr>
          <p:cNvPr id="217" name="Google Shape;217;p12"/>
          <p:cNvSpPr/>
          <p:nvPr/>
        </p:nvSpPr>
        <p:spPr>
          <a:xfrm>
            <a:off x="68580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Total Image–Mask Pairs</a:t>
            </a:r>
            <a:endParaRPr b="0" i="0" sz="1100" u="none" cap="none" strike="noStrike">
              <a:solidFill>
                <a:schemeClr val="dk1"/>
              </a:solidFill>
              <a:latin typeface="Calibri"/>
              <a:ea typeface="Calibri"/>
              <a:cs typeface="Calibri"/>
              <a:sym typeface="Calibri"/>
            </a:endParaRPr>
          </a:p>
        </p:txBody>
      </p:sp>
      <p:sp>
        <p:nvSpPr>
          <p:cNvPr id="218" name="Google Shape;218;p12"/>
          <p:cNvSpPr/>
          <p:nvPr/>
        </p:nvSpPr>
        <p:spPr>
          <a:xfrm>
            <a:off x="438912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2"/>
          <p:cNvSpPr/>
          <p:nvPr/>
        </p:nvSpPr>
        <p:spPr>
          <a:xfrm>
            <a:off x="438912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452628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3,933 / 860</a:t>
            </a:r>
            <a:endParaRPr b="0" i="0" sz="2600" u="none" cap="none" strike="noStrike">
              <a:solidFill>
                <a:schemeClr val="dk1"/>
              </a:solidFill>
              <a:latin typeface="Calibri"/>
              <a:ea typeface="Calibri"/>
              <a:cs typeface="Calibri"/>
              <a:sym typeface="Calibri"/>
            </a:endParaRPr>
          </a:p>
        </p:txBody>
      </p:sp>
      <p:sp>
        <p:nvSpPr>
          <p:cNvPr id="221" name="Google Shape;221;p12"/>
          <p:cNvSpPr/>
          <p:nvPr/>
        </p:nvSpPr>
        <p:spPr>
          <a:xfrm>
            <a:off x="452628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Train / Test Split</a:t>
            </a:r>
            <a:endParaRPr b="0" i="0" sz="1100" u="none" cap="none" strike="noStrike">
              <a:solidFill>
                <a:schemeClr val="dk1"/>
              </a:solidFill>
              <a:latin typeface="Calibri"/>
              <a:ea typeface="Calibri"/>
              <a:cs typeface="Calibri"/>
              <a:sym typeface="Calibri"/>
            </a:endParaRPr>
          </a:p>
        </p:txBody>
      </p:sp>
      <p:sp>
        <p:nvSpPr>
          <p:cNvPr id="222" name="Google Shape;222;p12"/>
          <p:cNvSpPr/>
          <p:nvPr/>
        </p:nvSpPr>
        <p:spPr>
          <a:xfrm>
            <a:off x="8229600" y="1965960"/>
            <a:ext cx="3611880" cy="9144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8229600" y="1965960"/>
            <a:ext cx="73152" cy="9144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p:nvPr/>
        </p:nvSpPr>
        <p:spPr>
          <a:xfrm>
            <a:off x="8366760" y="2029968"/>
            <a:ext cx="34290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Georgia"/>
              <a:buNone/>
            </a:pPr>
            <a:r>
              <a:rPr b="1" i="0" lang="en-US" sz="2600" u="none" cap="none" strike="noStrike">
                <a:solidFill>
                  <a:srgbClr val="FFFFFF"/>
                </a:solidFill>
                <a:latin typeface="Georgia"/>
                <a:ea typeface="Georgia"/>
                <a:cs typeface="Georgia"/>
                <a:sym typeface="Georgia"/>
              </a:rPr>
              <a:t>1 : 1</a:t>
            </a:r>
            <a:endParaRPr b="0" i="0" sz="2600" u="none" cap="none" strike="noStrike">
              <a:solidFill>
                <a:schemeClr val="dk1"/>
              </a:solidFill>
              <a:latin typeface="Calibri"/>
              <a:ea typeface="Calibri"/>
              <a:cs typeface="Calibri"/>
              <a:sym typeface="Calibri"/>
            </a:endParaRPr>
          </a:p>
        </p:txBody>
      </p:sp>
      <p:sp>
        <p:nvSpPr>
          <p:cNvPr id="225" name="Google Shape;225;p12"/>
          <p:cNvSpPr/>
          <p:nvPr/>
        </p:nvSpPr>
        <p:spPr>
          <a:xfrm>
            <a:off x="8366760" y="2542032"/>
            <a:ext cx="34290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100"/>
              <a:buFont typeface="Calibri"/>
              <a:buNone/>
            </a:pPr>
            <a:r>
              <a:rPr b="0" i="0" lang="en-US" sz="1100" u="none" cap="none" strike="noStrike">
                <a:solidFill>
                  <a:srgbClr val="00C2A8"/>
                </a:solidFill>
                <a:latin typeface="Calibri"/>
                <a:ea typeface="Calibri"/>
                <a:cs typeface="Calibri"/>
                <a:sym typeface="Calibri"/>
              </a:rPr>
              <a:t>Image to Mask Ratio</a:t>
            </a:r>
            <a:endParaRPr b="0" i="0" sz="1100" u="none" cap="none" strike="noStrike">
              <a:solidFill>
                <a:schemeClr val="dk1"/>
              </a:solidFill>
              <a:latin typeface="Calibri"/>
              <a:ea typeface="Calibri"/>
              <a:cs typeface="Calibri"/>
              <a:sym typeface="Calibri"/>
            </a:endParaRPr>
          </a:p>
        </p:txBody>
      </p:sp>
      <p:sp>
        <p:nvSpPr>
          <p:cNvPr id="226" name="Google Shape;226;p12"/>
          <p:cNvSpPr/>
          <p:nvPr/>
        </p:nvSpPr>
        <p:spPr>
          <a:xfrm>
            <a:off x="548640" y="310896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Paired Sample  —  MRI Scan + Ground-Truth Mask</a:t>
            </a:r>
            <a:endParaRPr b="0" i="0" sz="1300" u="none" cap="none" strike="noStrike">
              <a:solidFill>
                <a:schemeClr val="dk1"/>
              </a:solidFill>
              <a:latin typeface="Calibri"/>
              <a:ea typeface="Calibri"/>
              <a:cs typeface="Calibri"/>
              <a:sym typeface="Calibri"/>
            </a:endParaRPr>
          </a:p>
        </p:txBody>
      </p:sp>
      <p:sp>
        <p:nvSpPr>
          <p:cNvPr id="227" name="Google Shape;227;p12"/>
          <p:cNvSpPr/>
          <p:nvPr/>
        </p:nvSpPr>
        <p:spPr>
          <a:xfrm>
            <a:off x="548640" y="6126480"/>
            <a:ext cx="7772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Each MRI scan is paired with a binary mask annotating the tumor region pixel-by-pixel.</a:t>
            </a:r>
            <a:endParaRPr b="0" i="0" sz="1000" u="none" cap="none" strike="noStrike">
              <a:solidFill>
                <a:schemeClr val="dk1"/>
              </a:solidFill>
              <a:latin typeface="Calibri"/>
              <a:ea typeface="Calibri"/>
              <a:cs typeface="Calibri"/>
              <a:sym typeface="Calibri"/>
            </a:endParaRPr>
          </a:p>
        </p:txBody>
      </p:sp>
      <p:sp>
        <p:nvSpPr>
          <p:cNvPr id="228" name="Google Shape;228;p12"/>
          <p:cNvSpPr/>
          <p:nvPr/>
        </p:nvSpPr>
        <p:spPr>
          <a:xfrm>
            <a:off x="8686800" y="3108960"/>
            <a:ext cx="2926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Train vs. Test</a:t>
            </a:r>
            <a:endParaRPr b="0" i="0" sz="1300" u="none" cap="none" strike="noStrike">
              <a:solidFill>
                <a:schemeClr val="dk1"/>
              </a:solidFill>
              <a:latin typeface="Calibri"/>
              <a:ea typeface="Calibri"/>
              <a:cs typeface="Calibri"/>
              <a:sym typeface="Calibri"/>
            </a:endParaRPr>
          </a:p>
        </p:txBody>
      </p:sp>
      <p:pic>
        <p:nvPicPr>
          <p:cNvPr id="229" name="Google Shape;229;p12"/>
          <p:cNvPicPr preferRelativeResize="0"/>
          <p:nvPr/>
        </p:nvPicPr>
        <p:blipFill rotWithShape="1">
          <a:blip r:embed="rId3">
            <a:alphaModFix/>
          </a:blip>
          <a:srcRect b="0" l="0" r="0" t="0"/>
          <a:stretch/>
        </p:blipFill>
        <p:spPr>
          <a:xfrm>
            <a:off x="8595360" y="3429000"/>
            <a:ext cx="3017520" cy="2743200"/>
          </a:xfrm>
          <a:prstGeom prst="rect">
            <a:avLst/>
          </a:prstGeom>
          <a:noFill/>
          <a:ln>
            <a:noFill/>
          </a:ln>
        </p:spPr>
      </p:pic>
      <p:sp>
        <p:nvSpPr>
          <p:cNvPr id="230" name="Google Shape;230;p12"/>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2"/>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233" name="Google Shape;233;p12"/>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pic>
        <p:nvPicPr>
          <p:cNvPr id="234" name="Google Shape;234;p12"/>
          <p:cNvPicPr preferRelativeResize="0"/>
          <p:nvPr/>
        </p:nvPicPr>
        <p:blipFill>
          <a:blip r:embed="rId4">
            <a:alphaModFix/>
          </a:blip>
          <a:stretch>
            <a:fillRect/>
          </a:stretch>
        </p:blipFill>
        <p:spPr>
          <a:xfrm>
            <a:off x="1049934" y="3581400"/>
            <a:ext cx="2392680" cy="2392680"/>
          </a:xfrm>
          <a:prstGeom prst="rect">
            <a:avLst/>
          </a:prstGeom>
          <a:noFill/>
          <a:ln>
            <a:noFill/>
          </a:ln>
        </p:spPr>
      </p:pic>
      <p:pic>
        <p:nvPicPr>
          <p:cNvPr id="235" name="Google Shape;235;p12"/>
          <p:cNvPicPr preferRelativeResize="0"/>
          <p:nvPr/>
        </p:nvPicPr>
        <p:blipFill>
          <a:blip r:embed="rId5">
            <a:alphaModFix/>
          </a:blip>
          <a:stretch>
            <a:fillRect/>
          </a:stretch>
        </p:blipFill>
        <p:spPr>
          <a:xfrm>
            <a:off x="3851455" y="3581400"/>
            <a:ext cx="2392680" cy="2392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40" name="Shape 240"/>
        <p:cNvGrpSpPr/>
        <p:nvPr/>
      </p:nvGrpSpPr>
      <p:grpSpPr>
        <a:xfrm>
          <a:off x="0" y="0"/>
          <a:ext cx="0" cy="0"/>
          <a:chOff x="0" y="0"/>
          <a:chExt cx="0" cy="0"/>
        </a:xfrm>
      </p:grpSpPr>
      <p:sp>
        <p:nvSpPr>
          <p:cNvPr id="241" name="Google Shape;241;p13"/>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05  •  METHODOLOGY</a:t>
            </a:r>
            <a:endParaRPr b="0" i="0" sz="1200" u="none" cap="none" strike="noStrike">
              <a:solidFill>
                <a:schemeClr val="dk1"/>
              </a:solidFill>
              <a:latin typeface="Calibri"/>
              <a:ea typeface="Calibri"/>
              <a:cs typeface="Calibri"/>
              <a:sym typeface="Calibri"/>
            </a:endParaRPr>
          </a:p>
        </p:txBody>
      </p:sp>
      <p:sp>
        <p:nvSpPr>
          <p:cNvPr id="243" name="Google Shape;243;p13"/>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Model 1 — U-Net for Segmentation</a:t>
            </a:r>
            <a:endParaRPr b="0" i="0" sz="3200" u="none" cap="none" strike="noStrike">
              <a:solidFill>
                <a:schemeClr val="dk1"/>
              </a:solidFill>
              <a:latin typeface="Calibri"/>
              <a:ea typeface="Calibri"/>
              <a:cs typeface="Calibri"/>
              <a:sym typeface="Calibri"/>
            </a:endParaRPr>
          </a:p>
        </p:txBody>
      </p:sp>
      <p:sp>
        <p:nvSpPr>
          <p:cNvPr id="244" name="Google Shape;244;p13"/>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a:off x="548640" y="20116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Georgia"/>
              <a:buNone/>
            </a:pPr>
            <a:r>
              <a:rPr b="1" i="0" lang="en-US" sz="1600" u="none" cap="none" strike="noStrike">
                <a:solidFill>
                  <a:srgbClr val="1C7293"/>
                </a:solidFill>
                <a:latin typeface="Georgia"/>
                <a:ea typeface="Georgia"/>
                <a:cs typeface="Georgia"/>
                <a:sym typeface="Georgia"/>
              </a:rPr>
              <a:t>Encoder–Decoder with Skip Connections</a:t>
            </a:r>
            <a:endParaRPr b="0" i="0" sz="1600" u="none" cap="none" strike="noStrike">
              <a:solidFill>
                <a:schemeClr val="dk1"/>
              </a:solidFill>
              <a:latin typeface="Calibri"/>
              <a:ea typeface="Calibri"/>
              <a:cs typeface="Calibri"/>
              <a:sym typeface="Calibri"/>
            </a:endParaRPr>
          </a:p>
        </p:txBody>
      </p:sp>
      <p:sp>
        <p:nvSpPr>
          <p:cNvPr id="246" name="Google Shape;246;p13"/>
          <p:cNvSpPr/>
          <p:nvPr/>
        </p:nvSpPr>
        <p:spPr>
          <a:xfrm>
            <a:off x="548640" y="2468880"/>
            <a:ext cx="548640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Contracting path  </a:t>
            </a:r>
            <a:r>
              <a:rPr b="0" i="0" lang="en-US" sz="1200" u="none" cap="none" strike="noStrike">
                <a:solidFill>
                  <a:srgbClr val="1E293B"/>
                </a:solidFill>
                <a:latin typeface="Calibri"/>
                <a:ea typeface="Calibri"/>
                <a:cs typeface="Calibri"/>
                <a:sym typeface="Calibri"/>
              </a:rPr>
              <a:t>compresses the image through repeated 3×3 convolutions, ReLU, and 2×2 max-pooling — capturing increasingly abstract features.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Expansive path  </a:t>
            </a:r>
            <a:r>
              <a:rPr b="0" i="0" lang="en-US" sz="1200" u="none" cap="none" strike="noStrike">
                <a:solidFill>
                  <a:srgbClr val="1E293B"/>
                </a:solidFill>
                <a:latin typeface="Calibri"/>
                <a:ea typeface="Calibri"/>
                <a:cs typeface="Calibri"/>
                <a:sym typeface="Calibri"/>
              </a:rPr>
              <a:t>uses up-convolutions to restore spatial resolution and produce a full segmentation map.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Skip connections  </a:t>
            </a:r>
            <a:r>
              <a:rPr b="0" i="0" lang="en-US" sz="1200" u="none" cap="none" strike="noStrike">
                <a:solidFill>
                  <a:srgbClr val="1E293B"/>
                </a:solidFill>
                <a:latin typeface="Calibri"/>
                <a:ea typeface="Calibri"/>
                <a:cs typeface="Calibri"/>
                <a:sym typeface="Calibri"/>
              </a:rPr>
              <a:t>copy high-resolution features from early layers into the decoder, preserving spatial context for precise localization.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Output  </a:t>
            </a:r>
            <a:r>
              <a:rPr b="0" i="0" lang="en-US" sz="1200" u="none" cap="none" strike="noStrike">
                <a:solidFill>
                  <a:srgbClr val="1E293B"/>
                </a:solidFill>
                <a:latin typeface="Calibri"/>
                <a:ea typeface="Calibri"/>
                <a:cs typeface="Calibri"/>
                <a:sym typeface="Calibri"/>
              </a:rPr>
              <a:t>is a binary mask highlighting the tumor region for each input MRI slice.</a:t>
            </a:r>
            <a:endParaRPr b="0" i="0" sz="1200" u="none" cap="none" strike="noStrike">
              <a:solidFill>
                <a:schemeClr val="dk1"/>
              </a:solidFill>
              <a:latin typeface="Calibri"/>
              <a:ea typeface="Calibri"/>
              <a:cs typeface="Calibri"/>
              <a:sym typeface="Calibri"/>
            </a:endParaRPr>
          </a:p>
        </p:txBody>
      </p:sp>
      <p:pic>
        <p:nvPicPr>
          <p:cNvPr descr="/home/claude/unet-architecture.png" id="247" name="Google Shape;247;p13"/>
          <p:cNvPicPr preferRelativeResize="0"/>
          <p:nvPr/>
        </p:nvPicPr>
        <p:blipFill rotWithShape="1">
          <a:blip r:embed="rId3">
            <a:alphaModFix/>
          </a:blip>
          <a:srcRect b="0" l="0" r="0" t="0"/>
          <a:stretch/>
        </p:blipFill>
        <p:spPr>
          <a:xfrm>
            <a:off x="6309360" y="2011680"/>
            <a:ext cx="5486400" cy="4114800"/>
          </a:xfrm>
          <a:prstGeom prst="rect">
            <a:avLst/>
          </a:prstGeom>
          <a:noFill/>
          <a:ln>
            <a:noFill/>
          </a:ln>
        </p:spPr>
      </p:pic>
      <p:sp>
        <p:nvSpPr>
          <p:cNvPr id="248" name="Google Shape;248;p13"/>
          <p:cNvSpPr/>
          <p:nvPr/>
        </p:nvSpPr>
        <p:spPr>
          <a:xfrm>
            <a:off x="6309360" y="6126480"/>
            <a:ext cx="5486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U-Net architecture </a:t>
            </a:r>
            <a:endParaRPr b="0" i="0" sz="1000" u="none" cap="none" strike="noStrike">
              <a:solidFill>
                <a:schemeClr val="dk1"/>
              </a:solidFill>
              <a:latin typeface="Calibri"/>
              <a:ea typeface="Calibri"/>
              <a:cs typeface="Calibri"/>
              <a:sym typeface="Calibri"/>
            </a:endParaRPr>
          </a:p>
        </p:txBody>
      </p:sp>
      <p:sp>
        <p:nvSpPr>
          <p:cNvPr id="249" name="Google Shape;249;p13"/>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3"/>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252" name="Google Shape;252;p13"/>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57" name="Shape 257"/>
        <p:cNvGrpSpPr/>
        <p:nvPr/>
      </p:nvGrpSpPr>
      <p:grpSpPr>
        <a:xfrm>
          <a:off x="0" y="0"/>
          <a:ext cx="0" cy="0"/>
          <a:chOff x="0" y="0"/>
          <a:chExt cx="0" cy="0"/>
        </a:xfrm>
      </p:grpSpPr>
      <p:sp>
        <p:nvSpPr>
          <p:cNvPr id="258" name="Google Shape;258;p14"/>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05  •  METHODOLOGY</a:t>
            </a:r>
            <a:endParaRPr b="0" i="0" sz="1200" u="none" cap="none" strike="noStrike">
              <a:solidFill>
                <a:schemeClr val="dk1"/>
              </a:solidFill>
              <a:latin typeface="Calibri"/>
              <a:ea typeface="Calibri"/>
              <a:cs typeface="Calibri"/>
              <a:sym typeface="Calibri"/>
            </a:endParaRPr>
          </a:p>
        </p:txBody>
      </p:sp>
      <p:sp>
        <p:nvSpPr>
          <p:cNvPr id="260" name="Google Shape;260;p14"/>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Model 2 — VGG16 for Classification</a:t>
            </a:r>
            <a:endParaRPr b="0" i="0" sz="3200" u="none" cap="none" strike="noStrike">
              <a:solidFill>
                <a:schemeClr val="dk1"/>
              </a:solidFill>
              <a:latin typeface="Calibri"/>
              <a:ea typeface="Calibri"/>
              <a:cs typeface="Calibri"/>
              <a:sym typeface="Calibri"/>
            </a:endParaRPr>
          </a:p>
        </p:txBody>
      </p:sp>
      <p:sp>
        <p:nvSpPr>
          <p:cNvPr id="261" name="Google Shape;261;p14"/>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548640" y="20116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Georgia"/>
              <a:buNone/>
            </a:pPr>
            <a:r>
              <a:rPr b="1" i="0" lang="en-US" sz="1600" u="none" cap="none" strike="noStrike">
                <a:solidFill>
                  <a:srgbClr val="1C7293"/>
                </a:solidFill>
                <a:latin typeface="Georgia"/>
                <a:ea typeface="Georgia"/>
                <a:cs typeface="Georgia"/>
                <a:sym typeface="Georgia"/>
              </a:rPr>
              <a:t>Transfer Learning from ImageNet</a:t>
            </a:r>
            <a:endParaRPr b="0" i="0" sz="1600" u="none" cap="none" strike="noStrike">
              <a:solidFill>
                <a:schemeClr val="dk1"/>
              </a:solidFill>
              <a:latin typeface="Calibri"/>
              <a:ea typeface="Calibri"/>
              <a:cs typeface="Calibri"/>
              <a:sym typeface="Calibri"/>
            </a:endParaRPr>
          </a:p>
        </p:txBody>
      </p:sp>
      <p:sp>
        <p:nvSpPr>
          <p:cNvPr id="263" name="Google Shape;263;p14"/>
          <p:cNvSpPr/>
          <p:nvPr/>
        </p:nvSpPr>
        <p:spPr>
          <a:xfrm>
            <a:off x="548640" y="2468880"/>
            <a:ext cx="5486400" cy="3840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Architecture  </a:t>
            </a:r>
            <a:r>
              <a:rPr b="0" i="0" lang="en-US" sz="1200" u="none" cap="none" strike="noStrike">
                <a:solidFill>
                  <a:srgbClr val="1E293B"/>
                </a:solidFill>
                <a:latin typeface="Calibri"/>
                <a:ea typeface="Calibri"/>
                <a:cs typeface="Calibri"/>
                <a:sym typeface="Calibri"/>
              </a:rPr>
              <a:t>13 convolutional layers in 5 blocks with max-pooling, followed by 3 fully connected layers at the classifier head.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Pretrained weights  </a:t>
            </a:r>
            <a:r>
              <a:rPr b="0" i="0" lang="en-US" sz="1200" u="none" cap="none" strike="noStrike">
                <a:solidFill>
                  <a:srgbClr val="1E293B"/>
                </a:solidFill>
                <a:latin typeface="Calibri"/>
                <a:ea typeface="Calibri"/>
                <a:cs typeface="Calibri"/>
                <a:sym typeface="Calibri"/>
              </a:rPr>
              <a:t>loaded from PyTorch torchvision (ImageNet). The convolutional base was frozen during training.</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Replaced head  </a:t>
            </a:r>
            <a:r>
              <a:rPr b="0" i="0" lang="en-US" sz="1200" u="none" cap="none" strike="noStrike">
                <a:solidFill>
                  <a:srgbClr val="1E293B"/>
                </a:solidFill>
                <a:latin typeface="Calibri"/>
                <a:ea typeface="Calibri"/>
                <a:cs typeface="Calibri"/>
                <a:sym typeface="Calibri"/>
              </a:rPr>
              <a:t>the final fully connected layer was swapped for a new linear layer mapping to 4 output classes.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B1F3A"/>
              </a:buClr>
              <a:buSzPts val="1200"/>
              <a:buFont typeface="Calibri"/>
              <a:buNone/>
            </a:pPr>
            <a:r>
              <a:rPr b="1" i="0" lang="en-US" sz="1200" u="none" cap="none" strike="noStrike">
                <a:solidFill>
                  <a:srgbClr val="0B1F3A"/>
                </a:solidFill>
                <a:latin typeface="Calibri"/>
                <a:ea typeface="Calibri"/>
                <a:cs typeface="Calibri"/>
                <a:sym typeface="Calibri"/>
              </a:rPr>
              <a:t>Preprocessing  </a:t>
            </a:r>
            <a:r>
              <a:rPr b="0" i="0" lang="en-US" sz="1200" u="none" cap="none" strike="noStrike">
                <a:solidFill>
                  <a:srgbClr val="1E293B"/>
                </a:solidFill>
                <a:latin typeface="Calibri"/>
                <a:ea typeface="Calibri"/>
                <a:cs typeface="Calibri"/>
                <a:sym typeface="Calibri"/>
              </a:rPr>
              <a:t>224×224 resize, BGR→RGB, ImageNet mean subtraction via Keras preprocess_input().</a:t>
            </a:r>
            <a:endParaRPr b="0" i="0" sz="1200" u="none" cap="none" strike="noStrike">
              <a:solidFill>
                <a:schemeClr val="dk1"/>
              </a:solidFill>
              <a:latin typeface="Calibri"/>
              <a:ea typeface="Calibri"/>
              <a:cs typeface="Calibri"/>
              <a:sym typeface="Calibri"/>
            </a:endParaRPr>
          </a:p>
        </p:txBody>
      </p:sp>
      <p:pic>
        <p:nvPicPr>
          <p:cNvPr descr="/home/claude/vgg-architecture.png" id="264" name="Google Shape;264;p14"/>
          <p:cNvPicPr preferRelativeResize="0"/>
          <p:nvPr/>
        </p:nvPicPr>
        <p:blipFill rotWithShape="1">
          <a:blip r:embed="rId3">
            <a:alphaModFix/>
          </a:blip>
          <a:srcRect b="0" l="0" r="0" t="0"/>
          <a:stretch/>
        </p:blipFill>
        <p:spPr>
          <a:xfrm>
            <a:off x="6309360" y="2011680"/>
            <a:ext cx="5486400" cy="4114800"/>
          </a:xfrm>
          <a:prstGeom prst="rect">
            <a:avLst/>
          </a:prstGeom>
          <a:noFill/>
          <a:ln>
            <a:noFill/>
          </a:ln>
        </p:spPr>
      </p:pic>
      <p:sp>
        <p:nvSpPr>
          <p:cNvPr id="265" name="Google Shape;265;p14"/>
          <p:cNvSpPr/>
          <p:nvPr/>
        </p:nvSpPr>
        <p:spPr>
          <a:xfrm>
            <a:off x="6309360" y="6126480"/>
            <a:ext cx="5486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VGG16 architecture</a:t>
            </a:r>
            <a:endParaRPr b="0" i="0" sz="1000" u="none" cap="none" strike="noStrike">
              <a:solidFill>
                <a:schemeClr val="dk1"/>
              </a:solidFill>
              <a:latin typeface="Calibri"/>
              <a:ea typeface="Calibri"/>
              <a:cs typeface="Calibri"/>
              <a:sym typeface="Calibri"/>
            </a:endParaRPr>
          </a:p>
        </p:txBody>
      </p:sp>
      <p:sp>
        <p:nvSpPr>
          <p:cNvPr id="266" name="Google Shape;266;p14"/>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269" name="Google Shape;269;p14"/>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74" name="Shape 274"/>
        <p:cNvGrpSpPr/>
        <p:nvPr/>
      </p:nvGrpSpPr>
      <p:grpSpPr>
        <a:xfrm>
          <a:off x="0" y="0"/>
          <a:ext cx="0" cy="0"/>
          <a:chOff x="0" y="0"/>
          <a:chExt cx="0" cy="0"/>
        </a:xfrm>
      </p:grpSpPr>
      <p:sp>
        <p:nvSpPr>
          <p:cNvPr id="275" name="Google Shape;275;p15"/>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RESULTS</a:t>
            </a:r>
            <a:endParaRPr b="0" i="0" sz="1200" u="none" cap="none" strike="noStrike">
              <a:solidFill>
                <a:schemeClr val="dk1"/>
              </a:solidFill>
              <a:latin typeface="Calibri"/>
              <a:ea typeface="Calibri"/>
              <a:cs typeface="Calibri"/>
              <a:sym typeface="Calibri"/>
            </a:endParaRPr>
          </a:p>
        </p:txBody>
      </p:sp>
      <p:sp>
        <p:nvSpPr>
          <p:cNvPr id="277" name="Google Shape;277;p15"/>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U-Net Segmentation Performance</a:t>
            </a:r>
            <a:endParaRPr b="0" i="0" sz="3200" u="none" cap="none" strike="noStrike">
              <a:solidFill>
                <a:schemeClr val="dk1"/>
              </a:solidFill>
              <a:latin typeface="Calibri"/>
              <a:ea typeface="Calibri"/>
              <a:cs typeface="Calibri"/>
              <a:sym typeface="Calibri"/>
            </a:endParaRPr>
          </a:p>
        </p:txBody>
      </p:sp>
      <p:sp>
        <p:nvSpPr>
          <p:cNvPr id="278" name="Google Shape;278;p15"/>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548640" y="2011680"/>
            <a:ext cx="2697480" cy="1554480"/>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548640" y="2011680"/>
            <a:ext cx="73152" cy="15544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685800" y="2148840"/>
            <a:ext cx="2514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4200"/>
              <a:buFont typeface="Georgia"/>
              <a:buNone/>
            </a:pPr>
            <a:r>
              <a:rPr b="1" i="0" lang="en-US" sz="4200" u="none" cap="none" strike="noStrike">
                <a:solidFill>
                  <a:srgbClr val="0B1F3A"/>
                </a:solidFill>
                <a:latin typeface="Georgia"/>
                <a:ea typeface="Georgia"/>
                <a:cs typeface="Georgia"/>
                <a:sym typeface="Georgia"/>
              </a:rPr>
              <a:t>0.824</a:t>
            </a:r>
            <a:endParaRPr b="0" i="0" sz="4200" u="none" cap="none" strike="noStrike">
              <a:solidFill>
                <a:schemeClr val="dk1"/>
              </a:solidFill>
              <a:latin typeface="Calibri"/>
              <a:ea typeface="Calibri"/>
              <a:cs typeface="Calibri"/>
              <a:sym typeface="Calibri"/>
            </a:endParaRPr>
          </a:p>
        </p:txBody>
      </p:sp>
      <p:sp>
        <p:nvSpPr>
          <p:cNvPr id="282" name="Google Shape;282;p15"/>
          <p:cNvSpPr/>
          <p:nvPr/>
        </p:nvSpPr>
        <p:spPr>
          <a:xfrm>
            <a:off x="685800" y="3017520"/>
            <a:ext cx="2514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Dice Coefficient</a:t>
            </a:r>
            <a:endParaRPr b="0" i="0" sz="1200" u="none" cap="none" strike="noStrike">
              <a:solidFill>
                <a:schemeClr val="dk1"/>
              </a:solidFill>
              <a:latin typeface="Calibri"/>
              <a:ea typeface="Calibri"/>
              <a:cs typeface="Calibri"/>
              <a:sym typeface="Calibri"/>
            </a:endParaRPr>
          </a:p>
        </p:txBody>
      </p:sp>
      <p:sp>
        <p:nvSpPr>
          <p:cNvPr id="283" name="Google Shape;283;p15"/>
          <p:cNvSpPr/>
          <p:nvPr/>
        </p:nvSpPr>
        <p:spPr>
          <a:xfrm>
            <a:off x="3429000" y="2011680"/>
            <a:ext cx="2697480" cy="1554480"/>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3429000" y="2011680"/>
            <a:ext cx="73152" cy="15544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3566160" y="2148840"/>
            <a:ext cx="2514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4200"/>
              <a:buFont typeface="Georgia"/>
              <a:buNone/>
            </a:pPr>
            <a:r>
              <a:rPr b="1" i="0" lang="en-US" sz="4200" u="none" cap="none" strike="noStrike">
                <a:solidFill>
                  <a:srgbClr val="0B1F3A"/>
                </a:solidFill>
                <a:latin typeface="Georgia"/>
                <a:ea typeface="Georgia"/>
                <a:cs typeface="Georgia"/>
                <a:sym typeface="Georgia"/>
              </a:rPr>
              <a:t>0.750</a:t>
            </a:r>
            <a:endParaRPr b="0" i="0" sz="4200" u="none" cap="none" strike="noStrike">
              <a:solidFill>
                <a:schemeClr val="dk1"/>
              </a:solidFill>
              <a:latin typeface="Calibri"/>
              <a:ea typeface="Calibri"/>
              <a:cs typeface="Calibri"/>
              <a:sym typeface="Calibri"/>
            </a:endParaRPr>
          </a:p>
        </p:txBody>
      </p:sp>
      <p:sp>
        <p:nvSpPr>
          <p:cNvPr id="286" name="Google Shape;286;p15"/>
          <p:cNvSpPr/>
          <p:nvPr/>
        </p:nvSpPr>
        <p:spPr>
          <a:xfrm>
            <a:off x="3566160" y="3017520"/>
            <a:ext cx="2514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IoU (Jaccard)</a:t>
            </a:r>
            <a:endParaRPr b="0" i="0" sz="1200" u="none" cap="none" strike="noStrike">
              <a:solidFill>
                <a:schemeClr val="dk1"/>
              </a:solidFill>
              <a:latin typeface="Calibri"/>
              <a:ea typeface="Calibri"/>
              <a:cs typeface="Calibri"/>
              <a:sym typeface="Calibri"/>
            </a:endParaRPr>
          </a:p>
        </p:txBody>
      </p:sp>
      <p:sp>
        <p:nvSpPr>
          <p:cNvPr id="287" name="Google Shape;287;p15"/>
          <p:cNvSpPr/>
          <p:nvPr/>
        </p:nvSpPr>
        <p:spPr>
          <a:xfrm>
            <a:off x="6309360" y="2011680"/>
            <a:ext cx="2697480" cy="1554480"/>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6309360" y="2011680"/>
            <a:ext cx="73152" cy="15544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6446520" y="2148840"/>
            <a:ext cx="2514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4200"/>
              <a:buFont typeface="Georgia"/>
              <a:buNone/>
            </a:pPr>
            <a:r>
              <a:rPr b="1" i="0" lang="en-US" sz="4200" u="none" cap="none" strike="noStrike">
                <a:solidFill>
                  <a:srgbClr val="0B1F3A"/>
                </a:solidFill>
                <a:latin typeface="Georgia"/>
                <a:ea typeface="Georgia"/>
                <a:cs typeface="Georgia"/>
                <a:sym typeface="Georgia"/>
              </a:rPr>
              <a:t>0.998</a:t>
            </a:r>
            <a:endParaRPr b="0" i="0" sz="4200" u="none" cap="none" strike="noStrike">
              <a:solidFill>
                <a:schemeClr val="dk1"/>
              </a:solidFill>
              <a:latin typeface="Calibri"/>
              <a:ea typeface="Calibri"/>
              <a:cs typeface="Calibri"/>
              <a:sym typeface="Calibri"/>
            </a:endParaRPr>
          </a:p>
        </p:txBody>
      </p:sp>
      <p:sp>
        <p:nvSpPr>
          <p:cNvPr id="290" name="Google Shape;290;p15"/>
          <p:cNvSpPr/>
          <p:nvPr/>
        </p:nvSpPr>
        <p:spPr>
          <a:xfrm>
            <a:off x="6446520" y="3017520"/>
            <a:ext cx="2514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Binary Accuracy</a:t>
            </a:r>
            <a:endParaRPr b="0" i="0" sz="1200" u="none" cap="none" strike="noStrike">
              <a:solidFill>
                <a:schemeClr val="dk1"/>
              </a:solidFill>
              <a:latin typeface="Calibri"/>
              <a:ea typeface="Calibri"/>
              <a:cs typeface="Calibri"/>
              <a:sym typeface="Calibri"/>
            </a:endParaRPr>
          </a:p>
        </p:txBody>
      </p:sp>
      <p:sp>
        <p:nvSpPr>
          <p:cNvPr id="291" name="Google Shape;291;p15"/>
          <p:cNvSpPr/>
          <p:nvPr/>
        </p:nvSpPr>
        <p:spPr>
          <a:xfrm>
            <a:off x="9189720" y="2011680"/>
            <a:ext cx="2697480" cy="1554480"/>
          </a:xfrm>
          <a:prstGeom prst="rect">
            <a:avLst/>
          </a:prstGeom>
          <a:solidFill>
            <a:srgbClr val="FFFFFF"/>
          </a:solidFill>
          <a:ln cap="flat" cmpd="sng" w="12700">
            <a:solidFill>
              <a:srgbClr val="E6F1F7"/>
            </a:solidFill>
            <a:prstDash val="solid"/>
            <a:round/>
            <a:headEnd len="sm" w="sm" type="none"/>
            <a:tailEnd len="sm" w="sm" type="none"/>
          </a:ln>
          <a:effectLst>
            <a:outerShdw blurRad="101600" rotWithShape="0" algn="bl" dir="5400000" dist="25400">
              <a:srgbClr val="0B1F3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9189720" y="2011680"/>
            <a:ext cx="73152" cy="15544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9326880" y="2148840"/>
            <a:ext cx="2514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1F3A"/>
              </a:buClr>
              <a:buSzPts val="4200"/>
              <a:buFont typeface="Georgia"/>
              <a:buNone/>
            </a:pPr>
            <a:r>
              <a:rPr b="1" i="0" lang="en-US" sz="4200" u="none" cap="none" strike="noStrike">
                <a:solidFill>
                  <a:srgbClr val="0B1F3A"/>
                </a:solidFill>
                <a:latin typeface="Georgia"/>
                <a:ea typeface="Georgia"/>
                <a:cs typeface="Georgia"/>
                <a:sym typeface="Georgia"/>
              </a:rPr>
              <a:t>0.019</a:t>
            </a:r>
            <a:endParaRPr b="0" i="0" sz="4200" u="none" cap="none" strike="noStrike">
              <a:solidFill>
                <a:schemeClr val="dk1"/>
              </a:solidFill>
              <a:latin typeface="Calibri"/>
              <a:ea typeface="Calibri"/>
              <a:cs typeface="Calibri"/>
              <a:sym typeface="Calibri"/>
            </a:endParaRPr>
          </a:p>
        </p:txBody>
      </p:sp>
      <p:sp>
        <p:nvSpPr>
          <p:cNvPr id="294" name="Google Shape;294;p15"/>
          <p:cNvSpPr/>
          <p:nvPr/>
        </p:nvSpPr>
        <p:spPr>
          <a:xfrm>
            <a:off x="9326880" y="3017520"/>
            <a:ext cx="2514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Final Loss</a:t>
            </a:r>
            <a:endParaRPr b="0" i="0" sz="1200" u="none" cap="none" strike="noStrike">
              <a:solidFill>
                <a:schemeClr val="dk1"/>
              </a:solidFill>
              <a:latin typeface="Calibri"/>
              <a:ea typeface="Calibri"/>
              <a:cs typeface="Calibri"/>
              <a:sym typeface="Calibri"/>
            </a:endParaRPr>
          </a:p>
        </p:txBody>
      </p:sp>
      <p:pic>
        <p:nvPicPr>
          <p:cNvPr descr="/home/claude/Predict_1.png" id="295" name="Google Shape;295;p15"/>
          <p:cNvPicPr preferRelativeResize="0"/>
          <p:nvPr/>
        </p:nvPicPr>
        <p:blipFill rotWithShape="1">
          <a:blip r:embed="rId3">
            <a:alphaModFix/>
          </a:blip>
          <a:srcRect b="0" l="0" r="0" t="0"/>
          <a:stretch/>
        </p:blipFill>
        <p:spPr>
          <a:xfrm>
            <a:off x="548640" y="3794760"/>
            <a:ext cx="7772400" cy="2468880"/>
          </a:xfrm>
          <a:prstGeom prst="rect">
            <a:avLst/>
          </a:prstGeom>
          <a:noFill/>
          <a:ln>
            <a:noFill/>
          </a:ln>
        </p:spPr>
      </p:pic>
      <p:sp>
        <p:nvSpPr>
          <p:cNvPr id="296" name="Google Shape;296;p15"/>
          <p:cNvSpPr/>
          <p:nvPr/>
        </p:nvSpPr>
        <p:spPr>
          <a:xfrm>
            <a:off x="8595360" y="3794760"/>
            <a:ext cx="3017520" cy="246888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8595360" y="3794760"/>
            <a:ext cx="73152" cy="246888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8732520" y="3931920"/>
            <a:ext cx="2834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000"/>
              <a:buFont typeface="Calibri"/>
              <a:buNone/>
            </a:pPr>
            <a:r>
              <a:rPr b="1" i="0" lang="en-US" sz="1000" u="none" cap="none" strike="noStrike">
                <a:solidFill>
                  <a:srgbClr val="00C2A8"/>
                </a:solidFill>
                <a:latin typeface="Calibri"/>
                <a:ea typeface="Calibri"/>
                <a:cs typeface="Calibri"/>
                <a:sym typeface="Calibri"/>
              </a:rPr>
              <a:t>KEY TAKEAWAY</a:t>
            </a:r>
            <a:endParaRPr b="0" i="0" sz="1000" u="none" cap="none" strike="noStrike">
              <a:solidFill>
                <a:schemeClr val="dk1"/>
              </a:solidFill>
              <a:latin typeface="Calibri"/>
              <a:ea typeface="Calibri"/>
              <a:cs typeface="Calibri"/>
              <a:sym typeface="Calibri"/>
            </a:endParaRPr>
          </a:p>
        </p:txBody>
      </p:sp>
      <p:sp>
        <p:nvSpPr>
          <p:cNvPr id="299" name="Google Shape;299;p15"/>
          <p:cNvSpPr/>
          <p:nvPr/>
        </p:nvSpPr>
        <p:spPr>
          <a:xfrm>
            <a:off x="8732520" y="4251960"/>
            <a:ext cx="2834640"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F1F7"/>
              </a:buClr>
              <a:buSzPts val="1100"/>
              <a:buFont typeface="Calibri"/>
              <a:buNone/>
            </a:pPr>
            <a:r>
              <a:rPr b="0" i="0" lang="en-US" sz="1100" u="none" cap="none" strike="noStrike">
                <a:solidFill>
                  <a:srgbClr val="E6F1F7"/>
                </a:solidFill>
                <a:latin typeface="Calibri"/>
                <a:ea typeface="Calibri"/>
                <a:cs typeface="Calibri"/>
                <a:sym typeface="Calibri"/>
              </a:rPr>
              <a:t>The model captures the main tumor shape and follows the ground-truth structure well — but has room to improve near edges and low-contrast regions at the pixel level.</a:t>
            </a:r>
            <a:endParaRPr b="0" i="0" sz="1100" u="none" cap="none" strike="noStrike">
              <a:solidFill>
                <a:schemeClr val="dk1"/>
              </a:solidFill>
              <a:latin typeface="Calibri"/>
              <a:ea typeface="Calibri"/>
              <a:cs typeface="Calibri"/>
              <a:sym typeface="Calibri"/>
            </a:endParaRPr>
          </a:p>
        </p:txBody>
      </p:sp>
      <p:sp>
        <p:nvSpPr>
          <p:cNvPr id="300" name="Google Shape;300;p15"/>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303" name="Google Shape;303;p15"/>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08" name="Shape 308"/>
        <p:cNvGrpSpPr/>
        <p:nvPr/>
      </p:nvGrpSpPr>
      <p:grpSpPr>
        <a:xfrm>
          <a:off x="0" y="0"/>
          <a:ext cx="0" cy="0"/>
          <a:chOff x="0" y="0"/>
          <a:chExt cx="0" cy="0"/>
        </a:xfrm>
      </p:grpSpPr>
      <p:sp>
        <p:nvSpPr>
          <p:cNvPr id="309" name="Google Shape;309;p16"/>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6"/>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RESULTS</a:t>
            </a:r>
            <a:endParaRPr b="0" i="0" sz="1200" u="none" cap="none" strike="noStrike">
              <a:solidFill>
                <a:schemeClr val="dk1"/>
              </a:solidFill>
              <a:latin typeface="Calibri"/>
              <a:ea typeface="Calibri"/>
              <a:cs typeface="Calibri"/>
              <a:sym typeface="Calibri"/>
            </a:endParaRPr>
          </a:p>
        </p:txBody>
      </p:sp>
      <p:sp>
        <p:nvSpPr>
          <p:cNvPr id="311" name="Google Shape;311;p16"/>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VGG16 Classification Performance</a:t>
            </a:r>
            <a:endParaRPr b="0" i="0" sz="3200" u="none" cap="none" strike="noStrike">
              <a:solidFill>
                <a:schemeClr val="dk1"/>
              </a:solidFill>
              <a:latin typeface="Calibri"/>
              <a:ea typeface="Calibri"/>
              <a:cs typeface="Calibri"/>
              <a:sym typeface="Calibri"/>
            </a:endParaRPr>
          </a:p>
        </p:txBody>
      </p:sp>
      <p:sp>
        <p:nvSpPr>
          <p:cNvPr id="312" name="Google Shape;312;p16"/>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548640" y="2011680"/>
            <a:ext cx="3840480" cy="429768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p:nvPr/>
        </p:nvSpPr>
        <p:spPr>
          <a:xfrm>
            <a:off x="548640" y="2011680"/>
            <a:ext cx="384048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a:off x="640080" y="2286000"/>
            <a:ext cx="3657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OVERALL ACCURACY</a:t>
            </a:r>
            <a:endParaRPr b="0" i="0" sz="1200" u="none" cap="none" strike="noStrike">
              <a:solidFill>
                <a:schemeClr val="dk1"/>
              </a:solidFill>
              <a:latin typeface="Calibri"/>
              <a:ea typeface="Calibri"/>
              <a:cs typeface="Calibri"/>
              <a:sym typeface="Calibri"/>
            </a:endParaRPr>
          </a:p>
        </p:txBody>
      </p:sp>
      <p:sp>
        <p:nvSpPr>
          <p:cNvPr id="316" name="Google Shape;316;p16"/>
          <p:cNvSpPr/>
          <p:nvPr/>
        </p:nvSpPr>
        <p:spPr>
          <a:xfrm>
            <a:off x="640080" y="2697480"/>
            <a:ext cx="3657600" cy="1645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0"/>
              <a:buFont typeface="Georgia"/>
              <a:buNone/>
            </a:pPr>
            <a:r>
              <a:rPr b="1" i="0" lang="en-US" sz="11000" u="none" cap="none" strike="noStrike">
                <a:solidFill>
                  <a:srgbClr val="FFFFFF"/>
                </a:solidFill>
                <a:latin typeface="Georgia"/>
                <a:ea typeface="Georgia"/>
                <a:cs typeface="Georgia"/>
                <a:sym typeface="Georgia"/>
              </a:rPr>
              <a:t>93%</a:t>
            </a:r>
            <a:endParaRPr b="0" i="0" sz="11000" u="none" cap="none" strike="noStrike">
              <a:solidFill>
                <a:schemeClr val="dk1"/>
              </a:solidFill>
              <a:latin typeface="Calibri"/>
              <a:ea typeface="Calibri"/>
              <a:cs typeface="Calibri"/>
              <a:sym typeface="Calibri"/>
            </a:endParaRPr>
          </a:p>
        </p:txBody>
      </p:sp>
      <p:sp>
        <p:nvSpPr>
          <p:cNvPr id="317" name="Google Shape;317;p16"/>
          <p:cNvSpPr/>
          <p:nvPr/>
        </p:nvSpPr>
        <p:spPr>
          <a:xfrm>
            <a:off x="640080" y="4434840"/>
            <a:ext cx="3657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F1F7"/>
              </a:buClr>
              <a:buSzPts val="1100"/>
              <a:buFont typeface="Calibri"/>
              <a:buNone/>
            </a:pPr>
            <a:r>
              <a:rPr b="0" i="1" lang="en-US" sz="1100" u="none" cap="none" strike="noStrike">
                <a:solidFill>
                  <a:srgbClr val="E6F1F7"/>
                </a:solidFill>
                <a:latin typeface="Calibri"/>
                <a:ea typeface="Calibri"/>
                <a:cs typeface="Calibri"/>
                <a:sym typeface="Calibri"/>
              </a:rPr>
              <a:t>on the held-out evaluation split across all 4 classes</a:t>
            </a:r>
            <a:endParaRPr b="0" i="0" sz="1100" u="none" cap="none" strike="noStrike">
              <a:solidFill>
                <a:schemeClr val="dk1"/>
              </a:solidFill>
              <a:latin typeface="Calibri"/>
              <a:ea typeface="Calibri"/>
              <a:cs typeface="Calibri"/>
              <a:sym typeface="Calibri"/>
            </a:endParaRPr>
          </a:p>
        </p:txBody>
      </p:sp>
      <p:sp>
        <p:nvSpPr>
          <p:cNvPr id="318" name="Google Shape;318;p16"/>
          <p:cNvSpPr/>
          <p:nvPr/>
        </p:nvSpPr>
        <p:spPr>
          <a:xfrm>
            <a:off x="731520" y="5029200"/>
            <a:ext cx="3474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100"/>
              <a:buFont typeface="Calibri"/>
              <a:buNone/>
            </a:pPr>
            <a:r>
              <a:rPr b="1" i="0" lang="en-US" sz="1100" u="none" cap="none" strike="noStrike">
                <a:solidFill>
                  <a:srgbClr val="00C2A8"/>
                </a:solidFill>
                <a:latin typeface="Calibri"/>
                <a:ea typeface="Calibri"/>
                <a:cs typeface="Calibri"/>
                <a:sym typeface="Calibri"/>
              </a:rPr>
              <a:t>Training: </a:t>
            </a:r>
            <a:r>
              <a:rPr b="0" i="0" lang="en-US" sz="1100" u="none" cap="none" strike="noStrike">
                <a:solidFill>
                  <a:srgbClr val="E6F1F7"/>
                </a:solidFill>
                <a:latin typeface="Calibri"/>
                <a:ea typeface="Calibri"/>
                <a:cs typeface="Calibri"/>
                <a:sym typeface="Calibri"/>
              </a:rPr>
              <a:t>0.70 → 0.97 accuracy</a:t>
            </a:r>
            <a:endParaRPr b="0" i="0" sz="11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0C2A8"/>
              </a:buClr>
              <a:buSzPts val="1100"/>
              <a:buFont typeface="Calibri"/>
              <a:buNone/>
            </a:pPr>
            <a:r>
              <a:rPr b="1" i="0" lang="en-US" sz="1100" u="none" cap="none" strike="noStrike">
                <a:solidFill>
                  <a:srgbClr val="00C2A8"/>
                </a:solidFill>
                <a:latin typeface="Calibri"/>
                <a:ea typeface="Calibri"/>
                <a:cs typeface="Calibri"/>
                <a:sym typeface="Calibri"/>
              </a:rPr>
              <a:t>Loss: </a:t>
            </a:r>
            <a:r>
              <a:rPr b="0" i="0" lang="en-US" sz="1100" u="none" cap="none" strike="noStrike">
                <a:solidFill>
                  <a:srgbClr val="E6F1F7"/>
                </a:solidFill>
                <a:latin typeface="Calibri"/>
                <a:ea typeface="Calibri"/>
                <a:cs typeface="Calibri"/>
                <a:sym typeface="Calibri"/>
              </a:rPr>
              <a:t>1.64 → 0.10 over 10 epochs</a:t>
            </a:r>
            <a:endParaRPr b="0" i="0" sz="1100" u="none" cap="none" strike="noStrike">
              <a:solidFill>
                <a:schemeClr val="dk1"/>
              </a:solidFill>
              <a:latin typeface="Calibri"/>
              <a:ea typeface="Calibri"/>
              <a:cs typeface="Calibri"/>
              <a:sym typeface="Calibri"/>
            </a:endParaRPr>
          </a:p>
        </p:txBody>
      </p:sp>
      <p:sp>
        <p:nvSpPr>
          <p:cNvPr id="319" name="Google Shape;319;p16"/>
          <p:cNvSpPr/>
          <p:nvPr/>
        </p:nvSpPr>
        <p:spPr>
          <a:xfrm>
            <a:off x="4663440" y="201168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400"/>
              <a:buFont typeface="Georgia"/>
              <a:buNone/>
            </a:pPr>
            <a:r>
              <a:rPr b="1" i="0" lang="en-US" sz="1400" u="none" cap="none" strike="noStrike">
                <a:solidFill>
                  <a:srgbClr val="1C7293"/>
                </a:solidFill>
                <a:latin typeface="Georgia"/>
                <a:ea typeface="Georgia"/>
                <a:cs typeface="Georgia"/>
                <a:sym typeface="Georgia"/>
              </a:rPr>
              <a:t>Per-Class F1 Scores</a:t>
            </a:r>
            <a:endParaRPr b="0" i="0" sz="1400" u="none" cap="none" strike="noStrike">
              <a:solidFill>
                <a:schemeClr val="dk1"/>
              </a:solidFill>
              <a:latin typeface="Calibri"/>
              <a:ea typeface="Calibri"/>
              <a:cs typeface="Calibri"/>
              <a:sym typeface="Calibri"/>
            </a:endParaRPr>
          </a:p>
        </p:txBody>
      </p:sp>
      <p:sp>
        <p:nvSpPr>
          <p:cNvPr id="320" name="Google Shape;320;p16"/>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323" name="Google Shape;323;p16"/>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pic>
        <p:nvPicPr>
          <p:cNvPr id="324" name="Google Shape;324;p16"/>
          <p:cNvPicPr preferRelativeResize="0"/>
          <p:nvPr/>
        </p:nvPicPr>
        <p:blipFill rotWithShape="1">
          <a:blip r:embed="rId3">
            <a:alphaModFix/>
          </a:blip>
          <a:srcRect b="0" l="0" r="0" t="0"/>
          <a:stretch/>
        </p:blipFill>
        <p:spPr>
          <a:xfrm>
            <a:off x="4572000" y="2423160"/>
            <a:ext cx="7041000" cy="384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29" name="Shape 329"/>
        <p:cNvGrpSpPr/>
        <p:nvPr/>
      </p:nvGrpSpPr>
      <p:grpSpPr>
        <a:xfrm>
          <a:off x="0" y="0"/>
          <a:ext cx="0" cy="0"/>
          <a:chOff x="0" y="0"/>
          <a:chExt cx="0" cy="0"/>
        </a:xfrm>
      </p:grpSpPr>
      <p:sp>
        <p:nvSpPr>
          <p:cNvPr id="330" name="Google Shape;330;p17"/>
          <p:cNvSpPr/>
          <p:nvPr/>
        </p:nvSpPr>
        <p:spPr>
          <a:xfrm>
            <a:off x="0" y="0"/>
            <a:ext cx="12161400" cy="1647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548640" y="41148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04  •  RESULTS</a:t>
            </a:r>
            <a:endParaRPr sz="1200">
              <a:solidFill>
                <a:schemeClr val="dk1"/>
              </a:solidFill>
              <a:latin typeface="Calibri"/>
              <a:ea typeface="Calibri"/>
              <a:cs typeface="Calibri"/>
              <a:sym typeface="Calibri"/>
            </a:endParaRPr>
          </a:p>
        </p:txBody>
      </p:sp>
      <p:sp>
        <p:nvSpPr>
          <p:cNvPr id="332" name="Google Shape;332;p17"/>
          <p:cNvSpPr/>
          <p:nvPr/>
        </p:nvSpPr>
        <p:spPr>
          <a:xfrm>
            <a:off x="548650" y="777250"/>
            <a:ext cx="116127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lang="en-US" sz="3200">
                <a:solidFill>
                  <a:srgbClr val="0B1F3A"/>
                </a:solidFill>
                <a:latin typeface="Georgia"/>
                <a:ea typeface="Georgia"/>
                <a:cs typeface="Georgia"/>
                <a:sym typeface="Georgia"/>
              </a:rPr>
              <a:t>VGG16 Classification Performance (Confusion Matrix)</a:t>
            </a:r>
            <a:endParaRPr sz="3200">
              <a:solidFill>
                <a:schemeClr val="dk1"/>
              </a:solidFill>
              <a:latin typeface="Calibri"/>
              <a:ea typeface="Calibri"/>
              <a:cs typeface="Calibri"/>
              <a:sym typeface="Calibri"/>
            </a:endParaRPr>
          </a:p>
        </p:txBody>
      </p:sp>
      <p:sp>
        <p:nvSpPr>
          <p:cNvPr id="333" name="Google Shape;333;p17"/>
          <p:cNvSpPr/>
          <p:nvPr/>
        </p:nvSpPr>
        <p:spPr>
          <a:xfrm>
            <a:off x="548640" y="1691640"/>
            <a:ext cx="548700" cy="54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7"/>
          <p:cNvSpPr/>
          <p:nvPr/>
        </p:nvSpPr>
        <p:spPr>
          <a:xfrm>
            <a:off x="548640" y="2011680"/>
            <a:ext cx="3840600" cy="42978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7"/>
          <p:cNvSpPr/>
          <p:nvPr/>
        </p:nvSpPr>
        <p:spPr>
          <a:xfrm>
            <a:off x="548640" y="2011680"/>
            <a:ext cx="3840600" cy="915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7"/>
          <p:cNvSpPr/>
          <p:nvPr/>
        </p:nvSpPr>
        <p:spPr>
          <a:xfrm>
            <a:off x="640080" y="2286000"/>
            <a:ext cx="3657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200"/>
              <a:buFont typeface="Calibri"/>
              <a:buNone/>
            </a:pPr>
            <a:r>
              <a:rPr b="1" lang="en-US" sz="1200">
                <a:solidFill>
                  <a:srgbClr val="00C2A8"/>
                </a:solidFill>
                <a:latin typeface="Calibri"/>
                <a:ea typeface="Calibri"/>
                <a:cs typeface="Calibri"/>
                <a:sym typeface="Calibri"/>
              </a:rPr>
              <a:t>Key Takeaway</a:t>
            </a:r>
            <a:endParaRPr sz="1200">
              <a:solidFill>
                <a:schemeClr val="dk1"/>
              </a:solidFill>
              <a:latin typeface="Calibri"/>
              <a:ea typeface="Calibri"/>
              <a:cs typeface="Calibri"/>
              <a:sym typeface="Calibri"/>
            </a:endParaRPr>
          </a:p>
        </p:txBody>
      </p:sp>
      <p:sp>
        <p:nvSpPr>
          <p:cNvPr id="337" name="Google Shape;337;p17"/>
          <p:cNvSpPr/>
          <p:nvPr/>
        </p:nvSpPr>
        <p:spPr>
          <a:xfrm>
            <a:off x="731575" y="2768213"/>
            <a:ext cx="3474600" cy="177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Strong diagonal values: </a:t>
            </a:r>
            <a:r>
              <a:rPr lang="en-US" sz="1100">
                <a:solidFill>
                  <a:srgbClr val="E6F1F7"/>
                </a:solidFill>
                <a:latin typeface="Calibri"/>
                <a:ea typeface="Calibri"/>
                <a:cs typeface="Calibri"/>
                <a:sym typeface="Calibri"/>
              </a:rPr>
              <a:t>high correct predictions across all classes</a:t>
            </a:r>
            <a:endParaRPr sz="1100">
              <a:solidFill>
                <a:schemeClr val="dk1"/>
              </a:solidFill>
              <a:latin typeface="Calibri"/>
              <a:ea typeface="Calibri"/>
              <a:cs typeface="Calibri"/>
              <a:sym typeface="Calibri"/>
            </a:endParaRPr>
          </a:p>
          <a:p>
            <a:pPr indent="0" lvl="0" marL="0" marR="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pituitary tumors: </a:t>
            </a:r>
            <a:r>
              <a:rPr lang="en-US" sz="1100">
                <a:solidFill>
                  <a:srgbClr val="E6F1F7"/>
                </a:solidFill>
                <a:latin typeface="Calibri"/>
                <a:ea typeface="Calibri"/>
                <a:cs typeface="Calibri"/>
                <a:sym typeface="Calibri"/>
              </a:rPr>
              <a:t>289 correct</a:t>
            </a:r>
            <a:endParaRPr sz="1100">
              <a:solidFill>
                <a:srgbClr val="E6F1F7"/>
              </a:solidFill>
              <a:latin typeface="Calibri"/>
              <a:ea typeface="Calibri"/>
              <a:cs typeface="Calibri"/>
              <a:sym typeface="Calibri"/>
            </a:endParaRPr>
          </a:p>
          <a:p>
            <a:pPr indent="0" lvl="0" marL="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glioma: </a:t>
            </a:r>
            <a:r>
              <a:rPr lang="en-US" sz="1100">
                <a:solidFill>
                  <a:srgbClr val="E6F1F7"/>
                </a:solidFill>
                <a:latin typeface="Calibri"/>
                <a:ea typeface="Calibri"/>
                <a:cs typeface="Calibri"/>
                <a:sym typeface="Calibri"/>
              </a:rPr>
              <a:t>208 correct</a:t>
            </a:r>
            <a:endParaRPr sz="1100">
              <a:solidFill>
                <a:srgbClr val="E6F1F7"/>
              </a:solidFill>
              <a:latin typeface="Calibri"/>
              <a:ea typeface="Calibri"/>
              <a:cs typeface="Calibri"/>
              <a:sym typeface="Calibri"/>
            </a:endParaRPr>
          </a:p>
          <a:p>
            <a:pPr indent="0" lvl="0" marL="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meningioma: </a:t>
            </a:r>
            <a:r>
              <a:rPr lang="en-US" sz="1100">
                <a:solidFill>
                  <a:srgbClr val="E6F1F7"/>
                </a:solidFill>
                <a:latin typeface="Calibri"/>
                <a:ea typeface="Calibri"/>
                <a:cs typeface="Calibri"/>
                <a:sym typeface="Calibri"/>
              </a:rPr>
              <a:t>223 correct</a:t>
            </a:r>
            <a:endParaRPr sz="1100">
              <a:solidFill>
                <a:srgbClr val="E6F1F7"/>
              </a:solidFill>
              <a:latin typeface="Calibri"/>
              <a:ea typeface="Calibri"/>
              <a:cs typeface="Calibri"/>
              <a:sym typeface="Calibri"/>
            </a:endParaRPr>
          </a:p>
          <a:p>
            <a:pPr indent="0" lvl="0" marL="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no_tumors: </a:t>
            </a:r>
            <a:r>
              <a:rPr lang="en-US" sz="1100">
                <a:solidFill>
                  <a:srgbClr val="E6F1F7"/>
                </a:solidFill>
                <a:latin typeface="Calibri"/>
                <a:ea typeface="Calibri"/>
                <a:cs typeface="Calibri"/>
                <a:sym typeface="Calibri"/>
              </a:rPr>
              <a:t>201 correct</a:t>
            </a:r>
            <a:endParaRPr sz="1100">
              <a:solidFill>
                <a:srgbClr val="E6F1F7"/>
              </a:solidFill>
              <a:latin typeface="Calibri"/>
              <a:ea typeface="Calibri"/>
              <a:cs typeface="Calibri"/>
              <a:sym typeface="Calibri"/>
            </a:endParaRPr>
          </a:p>
        </p:txBody>
      </p:sp>
      <p:sp>
        <p:nvSpPr>
          <p:cNvPr id="338" name="Google Shape;338;p17"/>
          <p:cNvSpPr/>
          <p:nvPr/>
        </p:nvSpPr>
        <p:spPr>
          <a:xfrm>
            <a:off x="4663440" y="2011680"/>
            <a:ext cx="6858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400"/>
              <a:buFont typeface="Georgia"/>
              <a:buNone/>
            </a:pPr>
            <a:r>
              <a:t/>
            </a:r>
            <a:endParaRPr sz="1400">
              <a:solidFill>
                <a:schemeClr val="dk1"/>
              </a:solidFill>
              <a:latin typeface="Calibri"/>
              <a:ea typeface="Calibri"/>
              <a:cs typeface="Calibri"/>
              <a:sym typeface="Calibri"/>
            </a:endParaRPr>
          </a:p>
        </p:txBody>
      </p:sp>
      <p:sp>
        <p:nvSpPr>
          <p:cNvPr id="339" name="Google Shape;339;p17"/>
          <p:cNvSpPr/>
          <p:nvPr/>
        </p:nvSpPr>
        <p:spPr>
          <a:xfrm>
            <a:off x="0" y="6537960"/>
            <a:ext cx="12161400" cy="3201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
          <p:cNvSpPr/>
          <p:nvPr/>
        </p:nvSpPr>
        <p:spPr>
          <a:xfrm>
            <a:off x="0" y="6537960"/>
            <a:ext cx="457200" cy="3201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7"/>
          <p:cNvSpPr/>
          <p:nvPr/>
        </p:nvSpPr>
        <p:spPr>
          <a:xfrm>
            <a:off x="548640" y="6537960"/>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Brain MRI Segmentation &amp; Classification  |  Toronto Metropolitan University</a:t>
            </a:r>
            <a:endParaRPr sz="900">
              <a:solidFill>
                <a:schemeClr val="dk1"/>
              </a:solidFill>
              <a:latin typeface="Calibri"/>
              <a:ea typeface="Calibri"/>
              <a:cs typeface="Calibri"/>
              <a:sym typeface="Calibri"/>
            </a:endParaRPr>
          </a:p>
        </p:txBody>
      </p:sp>
      <p:sp>
        <p:nvSpPr>
          <p:cNvPr id="342" name="Google Shape;342;p17"/>
          <p:cNvSpPr/>
          <p:nvPr/>
        </p:nvSpPr>
        <p:spPr>
          <a:xfrm>
            <a:off x="11521440" y="6537960"/>
            <a:ext cx="4572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9</a:t>
            </a:r>
            <a:endParaRPr sz="900">
              <a:solidFill>
                <a:schemeClr val="dk1"/>
              </a:solidFill>
              <a:latin typeface="Calibri"/>
              <a:ea typeface="Calibri"/>
              <a:cs typeface="Calibri"/>
              <a:sym typeface="Calibri"/>
            </a:endParaRPr>
          </a:p>
        </p:txBody>
      </p:sp>
      <p:pic>
        <p:nvPicPr>
          <p:cNvPr id="343" name="Google Shape;343;p17"/>
          <p:cNvPicPr preferRelativeResize="0"/>
          <p:nvPr/>
        </p:nvPicPr>
        <p:blipFill>
          <a:blip r:embed="rId3">
            <a:alphaModFix/>
          </a:blip>
          <a:stretch>
            <a:fillRect/>
          </a:stretch>
        </p:blipFill>
        <p:spPr>
          <a:xfrm>
            <a:off x="6265576" y="2011674"/>
            <a:ext cx="4797925" cy="4408175"/>
          </a:xfrm>
          <a:prstGeom prst="rect">
            <a:avLst/>
          </a:prstGeom>
          <a:noFill/>
          <a:ln>
            <a:noFill/>
          </a:ln>
        </p:spPr>
      </p:pic>
      <p:sp>
        <p:nvSpPr>
          <p:cNvPr id="344" name="Google Shape;344;p17"/>
          <p:cNvSpPr/>
          <p:nvPr/>
        </p:nvSpPr>
        <p:spPr>
          <a:xfrm>
            <a:off x="640155" y="4546925"/>
            <a:ext cx="36576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2A8"/>
              </a:buClr>
              <a:buSzPts val="1200"/>
              <a:buFont typeface="Calibri"/>
              <a:buNone/>
            </a:pPr>
            <a:r>
              <a:rPr b="1" lang="en-US" sz="1200">
                <a:solidFill>
                  <a:srgbClr val="00C2A8"/>
                </a:solidFill>
                <a:latin typeface="Calibri"/>
                <a:ea typeface="Calibri"/>
                <a:cs typeface="Calibri"/>
                <a:sym typeface="Calibri"/>
              </a:rPr>
              <a:t>Observation</a:t>
            </a:r>
            <a:endParaRPr sz="1200">
              <a:solidFill>
                <a:schemeClr val="dk1"/>
              </a:solidFill>
              <a:latin typeface="Calibri"/>
              <a:ea typeface="Calibri"/>
              <a:cs typeface="Calibri"/>
              <a:sym typeface="Calibri"/>
            </a:endParaRPr>
          </a:p>
        </p:txBody>
      </p:sp>
      <p:sp>
        <p:nvSpPr>
          <p:cNvPr id="345" name="Google Shape;345;p17"/>
          <p:cNvSpPr/>
          <p:nvPr/>
        </p:nvSpPr>
        <p:spPr>
          <a:xfrm>
            <a:off x="731575" y="4912621"/>
            <a:ext cx="3474600" cy="124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Most Confusion: </a:t>
            </a:r>
            <a:r>
              <a:rPr lang="en-US" sz="1100">
                <a:solidFill>
                  <a:srgbClr val="E6F1F7"/>
                </a:solidFill>
                <a:latin typeface="Calibri"/>
                <a:ea typeface="Calibri"/>
                <a:cs typeface="Calibri"/>
                <a:sym typeface="Calibri"/>
              </a:rPr>
              <a:t>between glioma and meningioma</a:t>
            </a:r>
            <a:endParaRPr sz="1100">
              <a:solidFill>
                <a:schemeClr val="dk1"/>
              </a:solidFill>
              <a:latin typeface="Calibri"/>
              <a:ea typeface="Calibri"/>
              <a:cs typeface="Calibri"/>
              <a:sym typeface="Calibri"/>
            </a:endParaRPr>
          </a:p>
          <a:p>
            <a:pPr indent="0" lvl="0" marL="0" marR="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Minor misclassification: </a:t>
            </a:r>
            <a:r>
              <a:rPr lang="en-US" sz="1100">
                <a:solidFill>
                  <a:srgbClr val="E6F1F7"/>
                </a:solidFill>
                <a:latin typeface="Calibri"/>
                <a:ea typeface="Calibri"/>
                <a:cs typeface="Calibri"/>
                <a:sym typeface="Calibri"/>
              </a:rPr>
              <a:t>meningioma → pituitary cases</a:t>
            </a:r>
            <a:endParaRPr sz="1100">
              <a:solidFill>
                <a:srgbClr val="E6F1F7"/>
              </a:solidFill>
              <a:latin typeface="Calibri"/>
              <a:ea typeface="Calibri"/>
              <a:cs typeface="Calibri"/>
              <a:sym typeface="Calibri"/>
            </a:endParaRPr>
          </a:p>
          <a:p>
            <a:pPr indent="0" lvl="0" marL="0" marR="0" rtl="0" algn="l">
              <a:spcBef>
                <a:spcPts val="400"/>
              </a:spcBef>
              <a:spcAft>
                <a:spcPts val="0"/>
              </a:spcAft>
              <a:buClr>
                <a:srgbClr val="00C2A8"/>
              </a:buClr>
              <a:buSzPts val="1100"/>
              <a:buFont typeface="Calibri"/>
              <a:buNone/>
            </a:pPr>
            <a:r>
              <a:rPr b="1" lang="en-US" sz="1100">
                <a:solidFill>
                  <a:srgbClr val="00C2A8"/>
                </a:solidFill>
                <a:latin typeface="Calibri"/>
                <a:ea typeface="Calibri"/>
                <a:cs typeface="Calibri"/>
                <a:sym typeface="Calibri"/>
              </a:rPr>
              <a:t>Least eros in: </a:t>
            </a:r>
            <a:r>
              <a:rPr lang="en-US" sz="1100">
                <a:solidFill>
                  <a:srgbClr val="E6F1F7"/>
                </a:solidFill>
                <a:latin typeface="Calibri"/>
                <a:ea typeface="Calibri"/>
                <a:cs typeface="Calibri"/>
                <a:sym typeface="Calibri"/>
              </a:rPr>
              <a:t>pituitary and no_tumor classes</a:t>
            </a:r>
            <a:endParaRPr sz="1100">
              <a:solidFill>
                <a:srgbClr val="E6F1F7"/>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50" name="Shape 350"/>
        <p:cNvGrpSpPr/>
        <p:nvPr/>
      </p:nvGrpSpPr>
      <p:grpSpPr>
        <a:xfrm>
          <a:off x="0" y="0"/>
          <a:ext cx="0" cy="0"/>
          <a:chOff x="0" y="0"/>
          <a:chExt cx="0" cy="0"/>
        </a:xfrm>
      </p:grpSpPr>
      <p:sp>
        <p:nvSpPr>
          <p:cNvPr id="351" name="Google Shape;351;p18"/>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RESULTS</a:t>
            </a:r>
            <a:endParaRPr b="0" i="0" sz="1200" u="none" cap="none" strike="noStrike">
              <a:solidFill>
                <a:schemeClr val="dk1"/>
              </a:solidFill>
              <a:latin typeface="Calibri"/>
              <a:ea typeface="Calibri"/>
              <a:cs typeface="Calibri"/>
              <a:sym typeface="Calibri"/>
            </a:endParaRPr>
          </a:p>
        </p:txBody>
      </p:sp>
      <p:sp>
        <p:nvSpPr>
          <p:cNvPr id="353" name="Google Shape;353;p18"/>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Visual Outputs</a:t>
            </a:r>
            <a:endParaRPr b="0" i="0" sz="3200" u="none" cap="none" strike="noStrike">
              <a:solidFill>
                <a:schemeClr val="dk1"/>
              </a:solidFill>
              <a:latin typeface="Calibri"/>
              <a:ea typeface="Calibri"/>
              <a:cs typeface="Calibri"/>
              <a:sym typeface="Calibri"/>
            </a:endParaRPr>
          </a:p>
        </p:txBody>
      </p:sp>
      <p:sp>
        <p:nvSpPr>
          <p:cNvPr id="354" name="Google Shape;354;p18"/>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54864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U-Net Predicted Masks vs. Ground Truth</a:t>
            </a:r>
            <a:endParaRPr b="0" i="0" sz="1300" u="none" cap="none" strike="noStrike">
              <a:solidFill>
                <a:schemeClr val="dk1"/>
              </a:solidFill>
              <a:latin typeface="Calibri"/>
              <a:ea typeface="Calibri"/>
              <a:cs typeface="Calibri"/>
              <a:sym typeface="Calibri"/>
            </a:endParaRPr>
          </a:p>
        </p:txBody>
      </p:sp>
      <p:pic>
        <p:nvPicPr>
          <p:cNvPr descr="/home/claude/Predict_2.png" id="356" name="Google Shape;356;p18"/>
          <p:cNvPicPr preferRelativeResize="0"/>
          <p:nvPr/>
        </p:nvPicPr>
        <p:blipFill rotWithShape="1">
          <a:blip r:embed="rId3">
            <a:alphaModFix/>
          </a:blip>
          <a:srcRect b="0" l="0" r="0" t="0"/>
          <a:stretch/>
        </p:blipFill>
        <p:spPr>
          <a:xfrm>
            <a:off x="548640" y="2331720"/>
            <a:ext cx="5486400" cy="1828800"/>
          </a:xfrm>
          <a:prstGeom prst="rect">
            <a:avLst/>
          </a:prstGeom>
          <a:noFill/>
          <a:ln>
            <a:noFill/>
          </a:ln>
        </p:spPr>
      </p:pic>
      <p:pic>
        <p:nvPicPr>
          <p:cNvPr descr="/home/claude/Predict_3.png" id="357" name="Google Shape;357;p18"/>
          <p:cNvPicPr preferRelativeResize="0"/>
          <p:nvPr/>
        </p:nvPicPr>
        <p:blipFill rotWithShape="1">
          <a:blip r:embed="rId4">
            <a:alphaModFix/>
          </a:blip>
          <a:srcRect b="0" l="0" r="0" t="0"/>
          <a:stretch/>
        </p:blipFill>
        <p:spPr>
          <a:xfrm>
            <a:off x="548640" y="4251960"/>
            <a:ext cx="5486400" cy="1828800"/>
          </a:xfrm>
          <a:prstGeom prst="rect">
            <a:avLst/>
          </a:prstGeom>
          <a:noFill/>
          <a:ln>
            <a:noFill/>
          </a:ln>
        </p:spPr>
      </p:pic>
      <p:sp>
        <p:nvSpPr>
          <p:cNvPr id="358" name="Google Shape;358;p18"/>
          <p:cNvSpPr/>
          <p:nvPr/>
        </p:nvSpPr>
        <p:spPr>
          <a:xfrm>
            <a:off x="6400800" y="196596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300"/>
              <a:buFont typeface="Georgia"/>
              <a:buNone/>
            </a:pPr>
            <a:r>
              <a:rPr b="1" i="0" lang="en-US" sz="1300" u="none" cap="none" strike="noStrike">
                <a:solidFill>
                  <a:srgbClr val="1C7293"/>
                </a:solidFill>
                <a:latin typeface="Georgia"/>
                <a:ea typeface="Georgia"/>
                <a:cs typeface="Georgia"/>
                <a:sym typeface="Georgia"/>
              </a:rPr>
              <a:t>VGG16 Predicted Labels vs. Ground Truth</a:t>
            </a:r>
            <a:endParaRPr b="0" i="0" sz="1300" u="none" cap="none" strike="noStrike">
              <a:solidFill>
                <a:schemeClr val="dk1"/>
              </a:solidFill>
              <a:latin typeface="Calibri"/>
              <a:ea typeface="Calibri"/>
              <a:cs typeface="Calibri"/>
              <a:sym typeface="Calibri"/>
            </a:endParaRPr>
          </a:p>
        </p:txBody>
      </p:sp>
      <p:pic>
        <p:nvPicPr>
          <p:cNvPr descr="/home/claude/Classification_Combined.jpg" id="359" name="Google Shape;359;p18"/>
          <p:cNvPicPr preferRelativeResize="0"/>
          <p:nvPr/>
        </p:nvPicPr>
        <p:blipFill rotWithShape="1">
          <a:blip r:embed="rId5">
            <a:alphaModFix/>
          </a:blip>
          <a:srcRect b="0" l="0" r="0" t="0"/>
          <a:stretch/>
        </p:blipFill>
        <p:spPr>
          <a:xfrm>
            <a:off x="6400800" y="2331720"/>
            <a:ext cx="5212080" cy="3749040"/>
          </a:xfrm>
          <a:prstGeom prst="rect">
            <a:avLst/>
          </a:prstGeom>
          <a:noFill/>
          <a:ln>
            <a:noFill/>
          </a:ln>
        </p:spPr>
      </p:pic>
      <p:sp>
        <p:nvSpPr>
          <p:cNvPr id="360" name="Google Shape;360;p18"/>
          <p:cNvSpPr/>
          <p:nvPr/>
        </p:nvSpPr>
        <p:spPr>
          <a:xfrm>
            <a:off x="6400800" y="6126480"/>
            <a:ext cx="5212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Best class: no_tumor (F1 = 0.98)  •  Hardest: meningioma (F1 = 0.87)</a:t>
            </a:r>
            <a:endParaRPr b="0" i="0" sz="1000" u="none" cap="none" strike="noStrike">
              <a:solidFill>
                <a:schemeClr val="dk1"/>
              </a:solidFill>
              <a:latin typeface="Calibri"/>
              <a:ea typeface="Calibri"/>
              <a:cs typeface="Calibri"/>
              <a:sym typeface="Calibri"/>
            </a:endParaRPr>
          </a:p>
        </p:txBody>
      </p:sp>
      <p:sp>
        <p:nvSpPr>
          <p:cNvPr id="361" name="Google Shape;361;p18"/>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364" name="Google Shape;364;p18"/>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69" name="Shape 369"/>
        <p:cNvGrpSpPr/>
        <p:nvPr/>
      </p:nvGrpSpPr>
      <p:grpSpPr>
        <a:xfrm>
          <a:off x="0" y="0"/>
          <a:ext cx="0" cy="0"/>
          <a:chOff x="0" y="0"/>
          <a:chExt cx="0" cy="0"/>
        </a:xfrm>
      </p:grpSpPr>
      <p:sp>
        <p:nvSpPr>
          <p:cNvPr id="370" name="Google Shape;370;p19"/>
          <p:cNvSpPr/>
          <p:nvPr/>
        </p:nvSpPr>
        <p:spPr>
          <a:xfrm>
            <a:off x="0" y="0"/>
            <a:ext cx="12161400" cy="1647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548640" y="41148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05  •  DISCUSSION</a:t>
            </a:r>
            <a:endParaRPr sz="1200">
              <a:solidFill>
                <a:schemeClr val="dk1"/>
              </a:solidFill>
              <a:latin typeface="Calibri"/>
              <a:ea typeface="Calibri"/>
              <a:cs typeface="Calibri"/>
              <a:sym typeface="Calibri"/>
            </a:endParaRPr>
          </a:p>
        </p:txBody>
      </p:sp>
      <p:sp>
        <p:nvSpPr>
          <p:cNvPr id="372" name="Google Shape;372;p19"/>
          <p:cNvSpPr/>
          <p:nvPr/>
        </p:nvSpPr>
        <p:spPr>
          <a:xfrm>
            <a:off x="548640" y="777240"/>
            <a:ext cx="10972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lang="en-US" sz="3200">
                <a:solidFill>
                  <a:srgbClr val="0B1F3A"/>
                </a:solidFill>
                <a:latin typeface="Georgia"/>
                <a:ea typeface="Georgia"/>
                <a:cs typeface="Georgia"/>
                <a:sym typeface="Georgia"/>
              </a:rPr>
              <a:t>How We Compare to Arafat et al.</a:t>
            </a:r>
            <a:endParaRPr sz="3200">
              <a:solidFill>
                <a:schemeClr val="dk1"/>
              </a:solidFill>
              <a:latin typeface="Calibri"/>
              <a:ea typeface="Calibri"/>
              <a:cs typeface="Calibri"/>
              <a:sym typeface="Calibri"/>
            </a:endParaRPr>
          </a:p>
        </p:txBody>
      </p:sp>
      <p:sp>
        <p:nvSpPr>
          <p:cNvPr id="373" name="Google Shape;373;p19"/>
          <p:cNvSpPr/>
          <p:nvPr/>
        </p:nvSpPr>
        <p:spPr>
          <a:xfrm>
            <a:off x="548640" y="1691640"/>
            <a:ext cx="548700" cy="54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74" name="Google Shape;374;p19"/>
          <p:cNvGraphicFramePr/>
          <p:nvPr/>
        </p:nvGraphicFramePr>
        <p:xfrm>
          <a:off x="548640" y="2011680"/>
          <a:ext cx="3000000" cy="3000000"/>
        </p:xfrm>
        <a:graphic>
          <a:graphicData uri="http://schemas.openxmlformats.org/drawingml/2006/table">
            <a:tbl>
              <a:tblPr>
                <a:noFill/>
                <a:tableStyleId>{0790E38C-9CE1-4DA7-A72B-BB579594EDED}</a:tableStyleId>
              </a:tblPr>
              <a:tblGrid>
                <a:gridCol w="4206250"/>
                <a:gridCol w="2286000"/>
                <a:gridCol w="2286000"/>
                <a:gridCol w="2286000"/>
              </a:tblGrid>
              <a:tr h="411475">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Metric</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Our Project</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Reference Paper</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Gap</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B1F3A"/>
                    </a:solidFill>
                  </a:tcPr>
                </a:tc>
              </a:tr>
              <a:tr h="411475">
                <a:tc>
                  <a:txBody>
                    <a:bodyPr/>
                    <a:lstStyle/>
                    <a:p>
                      <a:pPr indent="0" lvl="0" marL="0" marR="0" rtl="0" algn="l">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Dice Coefficient</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065A82"/>
                        </a:buClr>
                        <a:buSzPts val="1300"/>
                        <a:buFont typeface="Calibri"/>
                        <a:buNone/>
                      </a:pPr>
                      <a:r>
                        <a:rPr b="1" lang="en-US" sz="1300" u="none" cap="none" strike="noStrike">
                          <a:solidFill>
                            <a:srgbClr val="065A82"/>
                          </a:solidFill>
                          <a:latin typeface="Calibri"/>
                          <a:ea typeface="Calibri"/>
                          <a:cs typeface="Calibri"/>
                          <a:sym typeface="Calibri"/>
                        </a:rPr>
                        <a:t>0.824</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0.94</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300"/>
                        <a:buFont typeface="Calibri"/>
                        <a:buNone/>
                      </a:pPr>
                      <a:r>
                        <a:rPr lang="en-US" sz="1300" u="none" cap="none" strike="noStrike">
                          <a:solidFill>
                            <a:srgbClr val="64748B"/>
                          </a:solidFill>
                          <a:latin typeface="Calibri"/>
                          <a:ea typeface="Calibri"/>
                          <a:cs typeface="Calibri"/>
                          <a:sym typeface="Calibri"/>
                        </a:rPr>
                        <a:t>−0.116</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IoU / Jaccard</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065A82"/>
                        </a:buClr>
                        <a:buSzPts val="1300"/>
                        <a:buFont typeface="Calibri"/>
                        <a:buNone/>
                      </a:pPr>
                      <a:r>
                        <a:rPr b="1" lang="en-US" sz="1300" u="none" cap="none" strike="noStrike">
                          <a:solidFill>
                            <a:srgbClr val="065A82"/>
                          </a:solidFill>
                          <a:latin typeface="Calibri"/>
                          <a:ea typeface="Calibri"/>
                          <a:cs typeface="Calibri"/>
                          <a:sym typeface="Calibri"/>
                        </a:rPr>
                        <a:t>0.750</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0.68</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00C2A8"/>
                        </a:buClr>
                        <a:buSzPts val="1300"/>
                        <a:buFont typeface="Calibri"/>
                        <a:buNone/>
                      </a:pPr>
                      <a:r>
                        <a:rPr b="1" lang="en-US" sz="1300" u="none" cap="none" strike="noStrike">
                          <a:solidFill>
                            <a:srgbClr val="00C2A8"/>
                          </a:solidFill>
                          <a:latin typeface="Calibri"/>
                          <a:ea typeface="Calibri"/>
                          <a:cs typeface="Calibri"/>
                          <a:sym typeface="Calibri"/>
                        </a:rPr>
                        <a:t>+0.070</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Classification Accuracy</a:t>
                      </a:r>
                      <a:endParaRPr sz="1300">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065A82"/>
                        </a:buClr>
                        <a:buSzPts val="1300"/>
                        <a:buFont typeface="Calibri"/>
                        <a:buNone/>
                      </a:pPr>
                      <a:r>
                        <a:rPr b="1" lang="en-US" sz="1300" u="none" cap="none" strike="noStrike">
                          <a:solidFill>
                            <a:srgbClr val="065A82"/>
                          </a:solidFill>
                          <a:latin typeface="Calibri"/>
                          <a:ea typeface="Calibri"/>
                          <a:cs typeface="Calibri"/>
                          <a:sym typeface="Calibri"/>
                        </a:rPr>
                        <a:t>93%</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1E293B"/>
                        </a:buClr>
                        <a:buSzPts val="1300"/>
                        <a:buFont typeface="Calibri"/>
                        <a:buNone/>
                      </a:pPr>
                      <a:r>
                        <a:rPr lang="en-US" sz="1300" u="none" cap="none" strike="noStrike">
                          <a:solidFill>
                            <a:srgbClr val="1E293B"/>
                          </a:solidFill>
                          <a:latin typeface="Calibri"/>
                          <a:ea typeface="Calibri"/>
                          <a:cs typeface="Calibri"/>
                          <a:sym typeface="Calibri"/>
                        </a:rPr>
                        <a:t>~99%</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Clr>
                          <a:srgbClr val="64748B"/>
                        </a:buClr>
                        <a:buSzPts val="1300"/>
                        <a:buFont typeface="Calibri"/>
                        <a:buNone/>
                      </a:pPr>
                      <a:r>
                        <a:rPr lang="en-US" sz="1300" u="none" cap="none" strike="noStrike">
                          <a:solidFill>
                            <a:srgbClr val="64748B"/>
                          </a:solidFill>
                          <a:latin typeface="Calibri"/>
                          <a:ea typeface="Calibri"/>
                          <a:cs typeface="Calibri"/>
                          <a:sym typeface="Calibri"/>
                        </a:rPr>
                        <a:t>−6 pts</a:t>
                      </a:r>
                      <a:endParaRPr sz="1300" u="none" cap="none" strike="noStrike">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None/>
                      </a:pPr>
                      <a:r>
                        <a:rPr lang="en-US" sz="1300">
                          <a:solidFill>
                            <a:srgbClr val="1E293B"/>
                          </a:solidFill>
                          <a:latin typeface="Calibri"/>
                          <a:ea typeface="Calibri"/>
                          <a:cs typeface="Calibri"/>
                          <a:sym typeface="Calibri"/>
                        </a:rPr>
                        <a:t>Glioma (F1 Score)</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a:solidFill>
                            <a:srgbClr val="065A82"/>
                          </a:solidFill>
                          <a:latin typeface="Calibri"/>
                          <a:ea typeface="Calibri"/>
                          <a:cs typeface="Calibri"/>
                          <a:sym typeface="Calibri"/>
                        </a:rPr>
                        <a:t>0.90</a:t>
                      </a:r>
                      <a:endParaRPr b="1" sz="1300" u="none" cap="none" strike="noStrike">
                        <a:solidFill>
                          <a:srgbClr val="065A82"/>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1E293B"/>
                          </a:solidFill>
                          <a:latin typeface="Calibri"/>
                          <a:ea typeface="Calibri"/>
                          <a:cs typeface="Calibri"/>
                          <a:sym typeface="Calibri"/>
                        </a:rPr>
                        <a:t>0.98</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64748B"/>
                          </a:solidFill>
                          <a:latin typeface="Calibri"/>
                          <a:ea typeface="Calibri"/>
                          <a:cs typeface="Calibri"/>
                          <a:sym typeface="Calibri"/>
                        </a:rPr>
                        <a:t>-0.08</a:t>
                      </a:r>
                      <a:endParaRPr sz="1300" u="none" cap="none" strike="noStrike">
                        <a:solidFill>
                          <a:srgbClr val="64748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None/>
                      </a:pPr>
                      <a:r>
                        <a:rPr lang="en-US" sz="1300">
                          <a:solidFill>
                            <a:srgbClr val="1E293B"/>
                          </a:solidFill>
                          <a:latin typeface="Calibri"/>
                          <a:ea typeface="Calibri"/>
                          <a:cs typeface="Calibri"/>
                          <a:sym typeface="Calibri"/>
                        </a:rPr>
                        <a:t>No Tumor (F1 Score)</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a:solidFill>
                            <a:srgbClr val="065A82"/>
                          </a:solidFill>
                          <a:latin typeface="Calibri"/>
                          <a:ea typeface="Calibri"/>
                          <a:cs typeface="Calibri"/>
                          <a:sym typeface="Calibri"/>
                        </a:rPr>
                        <a:t>0.98</a:t>
                      </a:r>
                      <a:endParaRPr b="1" sz="1300" u="none" cap="none" strike="noStrike">
                        <a:solidFill>
                          <a:srgbClr val="065A82"/>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1E293B"/>
                          </a:solidFill>
                          <a:latin typeface="Calibri"/>
                          <a:ea typeface="Calibri"/>
                          <a:cs typeface="Calibri"/>
                          <a:sym typeface="Calibri"/>
                        </a:rPr>
                        <a:t>0.97</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a:solidFill>
                            <a:srgbClr val="00C2A8"/>
                          </a:solidFill>
                          <a:latin typeface="Calibri"/>
                          <a:ea typeface="Calibri"/>
                          <a:cs typeface="Calibri"/>
                          <a:sym typeface="Calibri"/>
                        </a:rPr>
                        <a:t>+0.01</a:t>
                      </a:r>
                      <a:endParaRPr b="1" sz="1300" u="none" cap="none" strike="noStrike">
                        <a:solidFill>
                          <a:srgbClr val="00C2A8"/>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None/>
                      </a:pPr>
                      <a:r>
                        <a:rPr lang="en-US" sz="1300">
                          <a:solidFill>
                            <a:srgbClr val="1E293B"/>
                          </a:solidFill>
                          <a:latin typeface="Calibri"/>
                          <a:ea typeface="Calibri"/>
                          <a:cs typeface="Calibri"/>
                          <a:sym typeface="Calibri"/>
                        </a:rPr>
                        <a:t>Meningioma (F1 Score)</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a:solidFill>
                            <a:srgbClr val="065A82"/>
                          </a:solidFill>
                          <a:latin typeface="Calibri"/>
                          <a:ea typeface="Calibri"/>
                          <a:cs typeface="Calibri"/>
                          <a:sym typeface="Calibri"/>
                        </a:rPr>
                        <a:t>0.87</a:t>
                      </a:r>
                      <a:endParaRPr b="1" sz="1300" u="none" cap="none" strike="noStrike">
                        <a:solidFill>
                          <a:srgbClr val="065A82"/>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1E293B"/>
                          </a:solidFill>
                          <a:latin typeface="Calibri"/>
                          <a:ea typeface="Calibri"/>
                          <a:cs typeface="Calibri"/>
                          <a:sym typeface="Calibri"/>
                        </a:rPr>
                        <a:t>0.98</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64748B"/>
                          </a:solidFill>
                          <a:latin typeface="Calibri"/>
                          <a:ea typeface="Calibri"/>
                          <a:cs typeface="Calibri"/>
                          <a:sym typeface="Calibri"/>
                        </a:rPr>
                        <a:t>-0.11</a:t>
                      </a:r>
                      <a:endParaRPr sz="1300" u="none" cap="none" strike="noStrike">
                        <a:solidFill>
                          <a:srgbClr val="64748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r h="411475">
                <a:tc>
                  <a:txBody>
                    <a:bodyPr/>
                    <a:lstStyle/>
                    <a:p>
                      <a:pPr indent="0" lvl="0" marL="0" marR="0" rtl="0" algn="l">
                        <a:spcBef>
                          <a:spcPts val="0"/>
                        </a:spcBef>
                        <a:spcAft>
                          <a:spcPts val="0"/>
                        </a:spcAft>
                        <a:buNone/>
                      </a:pPr>
                      <a:r>
                        <a:rPr lang="en-US" sz="1300">
                          <a:solidFill>
                            <a:srgbClr val="1E293B"/>
                          </a:solidFill>
                          <a:latin typeface="Calibri"/>
                          <a:ea typeface="Calibri"/>
                          <a:cs typeface="Calibri"/>
                          <a:sym typeface="Calibri"/>
                        </a:rPr>
                        <a:t>Pituitary (F1 Score)</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300">
                          <a:solidFill>
                            <a:srgbClr val="065A82"/>
                          </a:solidFill>
                          <a:latin typeface="Calibri"/>
                          <a:ea typeface="Calibri"/>
                          <a:cs typeface="Calibri"/>
                          <a:sym typeface="Calibri"/>
                        </a:rPr>
                        <a:t>0.96</a:t>
                      </a:r>
                      <a:endParaRPr b="1" sz="1300" u="none" cap="none" strike="noStrike">
                        <a:solidFill>
                          <a:srgbClr val="065A82"/>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1E293B"/>
                          </a:solidFill>
                          <a:latin typeface="Calibri"/>
                          <a:ea typeface="Calibri"/>
                          <a:cs typeface="Calibri"/>
                          <a:sym typeface="Calibri"/>
                        </a:rPr>
                        <a:t>0.99</a:t>
                      </a:r>
                      <a:endParaRPr sz="1300" u="none" cap="none" strike="noStrike">
                        <a:solidFill>
                          <a:srgbClr val="1E293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c>
                  <a:txBody>
                    <a:bodyPr/>
                    <a:lstStyle/>
                    <a:p>
                      <a:pPr indent="0" lvl="0" marL="0" marR="0" rtl="0" algn="ctr">
                        <a:spcBef>
                          <a:spcPts val="0"/>
                        </a:spcBef>
                        <a:spcAft>
                          <a:spcPts val="0"/>
                        </a:spcAft>
                        <a:buNone/>
                      </a:pPr>
                      <a:r>
                        <a:rPr lang="en-US" sz="1300">
                          <a:solidFill>
                            <a:srgbClr val="64748B"/>
                          </a:solidFill>
                          <a:latin typeface="Calibri"/>
                          <a:ea typeface="Calibri"/>
                          <a:cs typeface="Calibri"/>
                          <a:sym typeface="Calibri"/>
                        </a:rPr>
                        <a:t>-0.03</a:t>
                      </a:r>
                      <a:endParaRPr sz="1300" u="none" cap="none" strike="noStrike">
                        <a:solidFill>
                          <a:srgbClr val="64748B"/>
                        </a:solidFill>
                        <a:latin typeface="Calibri"/>
                        <a:ea typeface="Calibri"/>
                        <a:cs typeface="Calibri"/>
                        <a:sym typeface="Calibri"/>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tcPr>
                </a:tc>
              </a:tr>
            </a:tbl>
          </a:graphicData>
        </a:graphic>
      </p:graphicFrame>
      <p:sp>
        <p:nvSpPr>
          <p:cNvPr id="375" name="Google Shape;375;p19"/>
          <p:cNvSpPr/>
          <p:nvPr/>
        </p:nvSpPr>
        <p:spPr>
          <a:xfrm>
            <a:off x="0" y="6537960"/>
            <a:ext cx="12161400" cy="3201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9"/>
          <p:cNvSpPr/>
          <p:nvPr/>
        </p:nvSpPr>
        <p:spPr>
          <a:xfrm>
            <a:off x="0" y="6537960"/>
            <a:ext cx="457200" cy="3201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9"/>
          <p:cNvSpPr/>
          <p:nvPr/>
        </p:nvSpPr>
        <p:spPr>
          <a:xfrm>
            <a:off x="548640" y="6537960"/>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Brain MRI Segmentation &amp; Classification  |  Toronto Metropolitan University</a:t>
            </a:r>
            <a:endParaRPr sz="900">
              <a:solidFill>
                <a:schemeClr val="dk1"/>
              </a:solidFill>
              <a:latin typeface="Calibri"/>
              <a:ea typeface="Calibri"/>
              <a:cs typeface="Calibri"/>
              <a:sym typeface="Calibri"/>
            </a:endParaRPr>
          </a:p>
        </p:txBody>
      </p:sp>
      <p:sp>
        <p:nvSpPr>
          <p:cNvPr id="378" name="Google Shape;378;p19"/>
          <p:cNvSpPr/>
          <p:nvPr/>
        </p:nvSpPr>
        <p:spPr>
          <a:xfrm>
            <a:off x="11521440" y="6537960"/>
            <a:ext cx="4572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11</a:t>
            </a:r>
            <a:endParaRPr sz="9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83" name="Shape 383"/>
        <p:cNvGrpSpPr/>
        <p:nvPr/>
      </p:nvGrpSpPr>
      <p:grpSpPr>
        <a:xfrm>
          <a:off x="0" y="0"/>
          <a:ext cx="0" cy="0"/>
          <a:chOff x="0" y="0"/>
          <a:chExt cx="0" cy="0"/>
        </a:xfrm>
      </p:grpSpPr>
      <p:sp>
        <p:nvSpPr>
          <p:cNvPr id="384" name="Google Shape;384;p20"/>
          <p:cNvSpPr/>
          <p:nvPr/>
        </p:nvSpPr>
        <p:spPr>
          <a:xfrm>
            <a:off x="0" y="0"/>
            <a:ext cx="12161400" cy="1647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0"/>
          <p:cNvSpPr/>
          <p:nvPr/>
        </p:nvSpPr>
        <p:spPr>
          <a:xfrm>
            <a:off x="548640" y="41148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lang="en-US" sz="1200">
                <a:solidFill>
                  <a:srgbClr val="1C7293"/>
                </a:solidFill>
                <a:latin typeface="Calibri"/>
                <a:ea typeface="Calibri"/>
                <a:cs typeface="Calibri"/>
                <a:sym typeface="Calibri"/>
              </a:rPr>
              <a:t>05  •  DISCUSSION</a:t>
            </a:r>
            <a:endParaRPr sz="1200">
              <a:solidFill>
                <a:schemeClr val="dk1"/>
              </a:solidFill>
              <a:latin typeface="Calibri"/>
              <a:ea typeface="Calibri"/>
              <a:cs typeface="Calibri"/>
              <a:sym typeface="Calibri"/>
            </a:endParaRPr>
          </a:p>
        </p:txBody>
      </p:sp>
      <p:sp>
        <p:nvSpPr>
          <p:cNvPr id="386" name="Google Shape;386;p20"/>
          <p:cNvSpPr/>
          <p:nvPr/>
        </p:nvSpPr>
        <p:spPr>
          <a:xfrm>
            <a:off x="548640" y="777240"/>
            <a:ext cx="109728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lang="en-US" sz="3200">
                <a:solidFill>
                  <a:srgbClr val="0B1F3A"/>
                </a:solidFill>
                <a:latin typeface="Georgia"/>
                <a:ea typeface="Georgia"/>
                <a:cs typeface="Georgia"/>
                <a:sym typeface="Georgia"/>
              </a:rPr>
              <a:t>How We Compare to Arafat et al.</a:t>
            </a:r>
            <a:endParaRPr sz="3200">
              <a:solidFill>
                <a:schemeClr val="dk1"/>
              </a:solidFill>
              <a:latin typeface="Calibri"/>
              <a:ea typeface="Calibri"/>
              <a:cs typeface="Calibri"/>
              <a:sym typeface="Calibri"/>
            </a:endParaRPr>
          </a:p>
        </p:txBody>
      </p:sp>
      <p:sp>
        <p:nvSpPr>
          <p:cNvPr id="387" name="Google Shape;387;p20"/>
          <p:cNvSpPr/>
          <p:nvPr/>
        </p:nvSpPr>
        <p:spPr>
          <a:xfrm>
            <a:off x="548640" y="1691640"/>
            <a:ext cx="548700" cy="549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0"/>
          <p:cNvSpPr/>
          <p:nvPr/>
        </p:nvSpPr>
        <p:spPr>
          <a:xfrm>
            <a:off x="548640" y="2322615"/>
            <a:ext cx="10972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Georgia"/>
              <a:buNone/>
            </a:pPr>
            <a:r>
              <a:rPr b="1" lang="en-US" sz="1600">
                <a:solidFill>
                  <a:srgbClr val="1C7293"/>
                </a:solidFill>
                <a:latin typeface="Georgia"/>
                <a:ea typeface="Georgia"/>
                <a:cs typeface="Georgia"/>
                <a:sym typeface="Georgia"/>
              </a:rPr>
              <a:t>Why the Gap?</a:t>
            </a:r>
            <a:endParaRPr sz="1600">
              <a:solidFill>
                <a:schemeClr val="dk1"/>
              </a:solidFill>
              <a:latin typeface="Calibri"/>
              <a:ea typeface="Calibri"/>
              <a:cs typeface="Calibri"/>
              <a:sym typeface="Calibri"/>
            </a:endParaRPr>
          </a:p>
        </p:txBody>
      </p:sp>
      <p:sp>
        <p:nvSpPr>
          <p:cNvPr id="389" name="Google Shape;389;p20"/>
          <p:cNvSpPr/>
          <p:nvPr/>
        </p:nvSpPr>
        <p:spPr>
          <a:xfrm>
            <a:off x="548640" y="2779815"/>
            <a:ext cx="3612000" cy="1600200"/>
          </a:xfrm>
          <a:prstGeom prst="rect">
            <a:avLst/>
          </a:prstGeom>
          <a:solidFill>
            <a:srgbClr val="FFFFFF"/>
          </a:solidFill>
          <a:ln cap="flat" cmpd="sng" w="12700">
            <a:solidFill>
              <a:srgbClr val="E6F1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0"/>
          <p:cNvSpPr/>
          <p:nvPr/>
        </p:nvSpPr>
        <p:spPr>
          <a:xfrm>
            <a:off x="548640" y="2779815"/>
            <a:ext cx="73200" cy="16002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0"/>
          <p:cNvSpPr/>
          <p:nvPr/>
        </p:nvSpPr>
        <p:spPr>
          <a:xfrm>
            <a:off x="731520" y="2871255"/>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200"/>
              <a:buFont typeface="Georgia"/>
              <a:buNone/>
            </a:pPr>
            <a:r>
              <a:rPr b="1" lang="en-US" sz="1200">
                <a:solidFill>
                  <a:srgbClr val="0B1F3A"/>
                </a:solidFill>
                <a:latin typeface="Georgia"/>
                <a:ea typeface="Georgia"/>
                <a:cs typeface="Georgia"/>
                <a:sym typeface="Georgia"/>
              </a:rPr>
              <a:t>Preprocessing depth</a:t>
            </a:r>
            <a:endParaRPr sz="1200">
              <a:solidFill>
                <a:schemeClr val="dk1"/>
              </a:solidFill>
              <a:latin typeface="Calibri"/>
              <a:ea typeface="Calibri"/>
              <a:cs typeface="Calibri"/>
              <a:sym typeface="Calibri"/>
            </a:endParaRPr>
          </a:p>
        </p:txBody>
      </p:sp>
      <p:sp>
        <p:nvSpPr>
          <p:cNvPr id="392" name="Google Shape;392;p20"/>
          <p:cNvSpPr/>
          <p:nvPr/>
        </p:nvSpPr>
        <p:spPr>
          <a:xfrm>
            <a:off x="731520" y="3237015"/>
            <a:ext cx="33834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Reference applied skull stripping and ROI extraction; we used resize + normalization only.</a:t>
            </a:r>
            <a:endParaRPr sz="1050">
              <a:solidFill>
                <a:schemeClr val="dk1"/>
              </a:solidFill>
              <a:latin typeface="Calibri"/>
              <a:ea typeface="Calibri"/>
              <a:cs typeface="Calibri"/>
              <a:sym typeface="Calibri"/>
            </a:endParaRPr>
          </a:p>
        </p:txBody>
      </p:sp>
      <p:sp>
        <p:nvSpPr>
          <p:cNvPr id="393" name="Google Shape;393;p20"/>
          <p:cNvSpPr/>
          <p:nvPr/>
        </p:nvSpPr>
        <p:spPr>
          <a:xfrm>
            <a:off x="4389120" y="2779815"/>
            <a:ext cx="3612000" cy="1600200"/>
          </a:xfrm>
          <a:prstGeom prst="rect">
            <a:avLst/>
          </a:prstGeom>
          <a:solidFill>
            <a:srgbClr val="FFFFFF"/>
          </a:solidFill>
          <a:ln cap="flat" cmpd="sng" w="12700">
            <a:solidFill>
              <a:srgbClr val="E6F1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
          <p:cNvSpPr/>
          <p:nvPr/>
        </p:nvSpPr>
        <p:spPr>
          <a:xfrm>
            <a:off x="4389120" y="2779815"/>
            <a:ext cx="73200" cy="16002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0"/>
          <p:cNvSpPr/>
          <p:nvPr/>
        </p:nvSpPr>
        <p:spPr>
          <a:xfrm>
            <a:off x="4572000" y="2871255"/>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200"/>
              <a:buFont typeface="Georgia"/>
              <a:buNone/>
            </a:pPr>
            <a:r>
              <a:rPr b="1" lang="en-US" sz="1200">
                <a:solidFill>
                  <a:srgbClr val="0B1F3A"/>
                </a:solidFill>
                <a:latin typeface="Georgia"/>
                <a:ea typeface="Georgia"/>
                <a:cs typeface="Georgia"/>
                <a:sym typeface="Georgia"/>
              </a:rPr>
              <a:t>Training duration</a:t>
            </a:r>
            <a:endParaRPr sz="1200">
              <a:solidFill>
                <a:schemeClr val="dk1"/>
              </a:solidFill>
              <a:latin typeface="Calibri"/>
              <a:ea typeface="Calibri"/>
              <a:cs typeface="Calibri"/>
              <a:sym typeface="Calibri"/>
            </a:endParaRPr>
          </a:p>
        </p:txBody>
      </p:sp>
      <p:sp>
        <p:nvSpPr>
          <p:cNvPr id="396" name="Google Shape;396;p20"/>
          <p:cNvSpPr/>
          <p:nvPr/>
        </p:nvSpPr>
        <p:spPr>
          <a:xfrm>
            <a:off x="4572000" y="3237015"/>
            <a:ext cx="33834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Likely fewer epochs and lighter hyperparameter tuning in our pipeline.</a:t>
            </a:r>
            <a:endParaRPr sz="1050">
              <a:solidFill>
                <a:schemeClr val="dk1"/>
              </a:solidFill>
              <a:latin typeface="Calibri"/>
              <a:ea typeface="Calibri"/>
              <a:cs typeface="Calibri"/>
              <a:sym typeface="Calibri"/>
            </a:endParaRPr>
          </a:p>
        </p:txBody>
      </p:sp>
      <p:sp>
        <p:nvSpPr>
          <p:cNvPr id="397" name="Google Shape;397;p20"/>
          <p:cNvSpPr/>
          <p:nvPr/>
        </p:nvSpPr>
        <p:spPr>
          <a:xfrm>
            <a:off x="8229600" y="2779815"/>
            <a:ext cx="3612000" cy="1600200"/>
          </a:xfrm>
          <a:prstGeom prst="rect">
            <a:avLst/>
          </a:prstGeom>
          <a:solidFill>
            <a:srgbClr val="FFFFFF"/>
          </a:solidFill>
          <a:ln cap="flat" cmpd="sng" w="12700">
            <a:solidFill>
              <a:srgbClr val="E6F1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0"/>
          <p:cNvSpPr/>
          <p:nvPr/>
        </p:nvSpPr>
        <p:spPr>
          <a:xfrm>
            <a:off x="8229600" y="2779815"/>
            <a:ext cx="73200" cy="16002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p:nvPr/>
        </p:nvSpPr>
        <p:spPr>
          <a:xfrm>
            <a:off x="8412480" y="2871255"/>
            <a:ext cx="3383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1200"/>
              <a:buFont typeface="Georgia"/>
              <a:buNone/>
            </a:pPr>
            <a:r>
              <a:rPr b="1" lang="en-US" sz="1200">
                <a:solidFill>
                  <a:srgbClr val="0B1F3A"/>
                </a:solidFill>
                <a:latin typeface="Georgia"/>
                <a:ea typeface="Georgia"/>
                <a:cs typeface="Georgia"/>
                <a:sym typeface="Georgia"/>
              </a:rPr>
              <a:t>Model architecture</a:t>
            </a:r>
            <a:endParaRPr sz="1200">
              <a:solidFill>
                <a:schemeClr val="dk1"/>
              </a:solidFill>
              <a:latin typeface="Calibri"/>
              <a:ea typeface="Calibri"/>
              <a:cs typeface="Calibri"/>
              <a:sym typeface="Calibri"/>
            </a:endParaRPr>
          </a:p>
        </p:txBody>
      </p:sp>
      <p:sp>
        <p:nvSpPr>
          <p:cNvPr id="400" name="Google Shape;400;p20"/>
          <p:cNvSpPr/>
          <p:nvPr/>
        </p:nvSpPr>
        <p:spPr>
          <a:xfrm>
            <a:off x="8412480" y="3237015"/>
            <a:ext cx="3383400" cy="109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50"/>
              <a:buFont typeface="Calibri"/>
              <a:buNone/>
            </a:pPr>
            <a:r>
              <a:rPr lang="en-US" sz="1050">
                <a:solidFill>
                  <a:srgbClr val="1E293B"/>
                </a:solidFill>
                <a:latin typeface="Calibri"/>
                <a:ea typeface="Calibri"/>
                <a:cs typeface="Calibri"/>
                <a:sym typeface="Calibri"/>
              </a:rPr>
              <a:t>Reference used a custom CNN trained on segmented tumor regions; we used a frozen pretrained VGG16.</a:t>
            </a:r>
            <a:endParaRPr sz="1050">
              <a:solidFill>
                <a:schemeClr val="dk1"/>
              </a:solidFill>
              <a:latin typeface="Calibri"/>
              <a:ea typeface="Calibri"/>
              <a:cs typeface="Calibri"/>
              <a:sym typeface="Calibri"/>
            </a:endParaRPr>
          </a:p>
        </p:txBody>
      </p:sp>
      <p:sp>
        <p:nvSpPr>
          <p:cNvPr id="401" name="Google Shape;401;p20"/>
          <p:cNvSpPr/>
          <p:nvPr/>
        </p:nvSpPr>
        <p:spPr>
          <a:xfrm>
            <a:off x="0" y="6537960"/>
            <a:ext cx="12161400" cy="32010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0"/>
          <p:cNvSpPr/>
          <p:nvPr/>
        </p:nvSpPr>
        <p:spPr>
          <a:xfrm>
            <a:off x="0" y="6537960"/>
            <a:ext cx="457200" cy="3201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a:off x="548640" y="6537960"/>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Brain MRI Segmentation &amp; Classification  |  Toronto Metropolitan University</a:t>
            </a:r>
            <a:endParaRPr sz="900">
              <a:solidFill>
                <a:schemeClr val="dk1"/>
              </a:solidFill>
              <a:latin typeface="Calibri"/>
              <a:ea typeface="Calibri"/>
              <a:cs typeface="Calibri"/>
              <a:sym typeface="Calibri"/>
            </a:endParaRPr>
          </a:p>
        </p:txBody>
      </p:sp>
      <p:sp>
        <p:nvSpPr>
          <p:cNvPr id="404" name="Google Shape;404;p20"/>
          <p:cNvSpPr/>
          <p:nvPr/>
        </p:nvSpPr>
        <p:spPr>
          <a:xfrm>
            <a:off x="11521440" y="6537960"/>
            <a:ext cx="4572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lang="en-US" sz="900">
                <a:solidFill>
                  <a:srgbClr val="E6F1F7"/>
                </a:solidFill>
                <a:latin typeface="Calibri"/>
                <a:ea typeface="Calibri"/>
                <a:cs typeface="Calibri"/>
                <a:sym typeface="Calibri"/>
              </a:rPr>
              <a:t>11</a:t>
            </a:r>
            <a:endParaRPr sz="9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09" name="Shape 409"/>
        <p:cNvGrpSpPr/>
        <p:nvPr/>
      </p:nvGrpSpPr>
      <p:grpSpPr>
        <a:xfrm>
          <a:off x="0" y="0"/>
          <a:ext cx="0" cy="0"/>
          <a:chOff x="0" y="0"/>
          <a:chExt cx="0" cy="0"/>
        </a:xfrm>
      </p:grpSpPr>
      <p:sp>
        <p:nvSpPr>
          <p:cNvPr id="410" name="Google Shape;410;p21"/>
          <p:cNvSpPr/>
          <p:nvPr/>
        </p:nvSpPr>
        <p:spPr>
          <a:xfrm>
            <a:off x="0" y="0"/>
            <a:ext cx="12161520" cy="16459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
          <p:cNvSpPr/>
          <p:nvPr/>
        </p:nvSpPr>
        <p:spPr>
          <a:xfrm>
            <a:off x="548640" y="4114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1" i="0" lang="en-US" sz="1200" u="none" cap="none" strike="noStrike">
                <a:solidFill>
                  <a:srgbClr val="1C7293"/>
                </a:solidFill>
                <a:latin typeface="Calibri"/>
                <a:ea typeface="Calibri"/>
                <a:cs typeface="Calibri"/>
                <a:sym typeface="Calibri"/>
              </a:rPr>
              <a:t>06  •  DISCUSSION</a:t>
            </a:r>
            <a:endParaRPr b="0" i="0" sz="1200" u="none" cap="none" strike="noStrike">
              <a:solidFill>
                <a:schemeClr val="dk1"/>
              </a:solidFill>
              <a:latin typeface="Calibri"/>
              <a:ea typeface="Calibri"/>
              <a:cs typeface="Calibri"/>
              <a:sym typeface="Calibri"/>
            </a:endParaRPr>
          </a:p>
        </p:txBody>
      </p:sp>
      <p:sp>
        <p:nvSpPr>
          <p:cNvPr id="412" name="Google Shape;412;p21"/>
          <p:cNvSpPr/>
          <p:nvPr/>
        </p:nvSpPr>
        <p:spPr>
          <a:xfrm>
            <a:off x="548640" y="777240"/>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1F3A"/>
              </a:buClr>
              <a:buSzPts val="3200"/>
              <a:buFont typeface="Georgia"/>
              <a:buNone/>
            </a:pPr>
            <a:r>
              <a:rPr b="1" i="0" lang="en-US" sz="3200" u="none" cap="none" strike="noStrike">
                <a:solidFill>
                  <a:srgbClr val="0B1F3A"/>
                </a:solidFill>
                <a:latin typeface="Georgia"/>
                <a:ea typeface="Georgia"/>
                <a:cs typeface="Georgia"/>
                <a:sym typeface="Georgia"/>
              </a:rPr>
              <a:t>Conclusion &amp; Future Work</a:t>
            </a:r>
            <a:endParaRPr b="0" i="0" sz="3200" u="none" cap="none" strike="noStrike">
              <a:solidFill>
                <a:schemeClr val="dk1"/>
              </a:solidFill>
              <a:latin typeface="Calibri"/>
              <a:ea typeface="Calibri"/>
              <a:cs typeface="Calibri"/>
              <a:sym typeface="Calibri"/>
            </a:endParaRPr>
          </a:p>
        </p:txBody>
      </p:sp>
      <p:sp>
        <p:nvSpPr>
          <p:cNvPr id="413" name="Google Shape;413;p21"/>
          <p:cNvSpPr/>
          <p:nvPr/>
        </p:nvSpPr>
        <p:spPr>
          <a:xfrm>
            <a:off x="548640" y="1691640"/>
            <a:ext cx="548640" cy="54864"/>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1"/>
          <p:cNvSpPr/>
          <p:nvPr/>
        </p:nvSpPr>
        <p:spPr>
          <a:xfrm>
            <a:off x="548640" y="201168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600"/>
              <a:buFont typeface="Georgia"/>
              <a:buNone/>
            </a:pPr>
            <a:r>
              <a:rPr b="1" i="0" lang="en-US" sz="1600" u="none" cap="none" strike="noStrike">
                <a:solidFill>
                  <a:srgbClr val="1C7293"/>
                </a:solidFill>
                <a:latin typeface="Georgia"/>
                <a:ea typeface="Georgia"/>
                <a:cs typeface="Georgia"/>
                <a:sym typeface="Georgia"/>
              </a:rPr>
              <a:t>Key Findings</a:t>
            </a:r>
            <a:endParaRPr b="0" i="0" sz="1600" u="none" cap="none" strike="noStrike">
              <a:solidFill>
                <a:schemeClr val="dk1"/>
              </a:solidFill>
              <a:latin typeface="Calibri"/>
              <a:ea typeface="Calibri"/>
              <a:cs typeface="Calibri"/>
              <a:sym typeface="Calibri"/>
            </a:endParaRPr>
          </a:p>
        </p:txBody>
      </p:sp>
      <p:sp>
        <p:nvSpPr>
          <p:cNvPr id="415" name="Google Shape;415;p21"/>
          <p:cNvSpPr/>
          <p:nvPr/>
        </p:nvSpPr>
        <p:spPr>
          <a:xfrm>
            <a:off x="548640" y="2514600"/>
            <a:ext cx="5669280" cy="3749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1E293B"/>
                </a:solidFill>
                <a:latin typeface="Calibri"/>
                <a:ea typeface="Calibri"/>
                <a:cs typeface="Calibri"/>
                <a:sym typeface="Calibri"/>
              </a:rPr>
              <a:t>U-Net successfully detected tumor regions with Dice 0.82 and IoU 0.75 — strong overlap with ground truth.</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1E293B"/>
                </a:solidFill>
                <a:latin typeface="Calibri"/>
                <a:ea typeface="Calibri"/>
                <a:cs typeface="Calibri"/>
                <a:sym typeface="Calibri"/>
              </a:rPr>
              <a:t>VGG16 reached 93% accuracy across four tumor classes, showing solid discrimination.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1E293B"/>
                </a:solidFill>
                <a:latin typeface="Calibri"/>
                <a:ea typeface="Calibri"/>
                <a:cs typeface="Calibri"/>
                <a:sym typeface="Calibri"/>
              </a:rPr>
              <a:t>The combined pipeline confirms that joint segmentation + classification is a powerful approach for automated brain tumor analysis.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  </a:t>
            </a:r>
            <a:r>
              <a:rPr b="0" i="0" lang="en-US" sz="1200" u="none" cap="none" strike="noStrike">
                <a:solidFill>
                  <a:srgbClr val="1E293B"/>
                </a:solidFill>
                <a:latin typeface="Calibri"/>
                <a:ea typeface="Calibri"/>
                <a:cs typeface="Calibri"/>
                <a:sym typeface="Calibri"/>
              </a:rPr>
              <a:t>Our IoU actually exceeded the reference paper's Jaccard score by 0.07.</a:t>
            </a:r>
            <a:endParaRPr b="0" i="0" sz="1200" u="none" cap="none" strike="noStrike">
              <a:solidFill>
                <a:schemeClr val="dk1"/>
              </a:solidFill>
              <a:latin typeface="Calibri"/>
              <a:ea typeface="Calibri"/>
              <a:cs typeface="Calibri"/>
              <a:sym typeface="Calibri"/>
            </a:endParaRPr>
          </a:p>
        </p:txBody>
      </p:sp>
      <p:sp>
        <p:nvSpPr>
          <p:cNvPr id="416" name="Google Shape;416;p21"/>
          <p:cNvSpPr/>
          <p:nvPr/>
        </p:nvSpPr>
        <p:spPr>
          <a:xfrm>
            <a:off x="6583680" y="2011680"/>
            <a:ext cx="5029200" cy="429768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1"/>
          <p:cNvSpPr/>
          <p:nvPr/>
        </p:nvSpPr>
        <p:spPr>
          <a:xfrm>
            <a:off x="6583680" y="2011680"/>
            <a:ext cx="5029200" cy="914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1"/>
          <p:cNvSpPr/>
          <p:nvPr/>
        </p:nvSpPr>
        <p:spPr>
          <a:xfrm>
            <a:off x="6766560" y="2194560"/>
            <a:ext cx="46634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2A8"/>
              </a:buClr>
              <a:buSzPts val="1200"/>
              <a:buFont typeface="Calibri"/>
              <a:buNone/>
            </a:pPr>
            <a:r>
              <a:rPr b="1" i="0" lang="en-US" sz="1200" u="none" cap="none" strike="noStrike">
                <a:solidFill>
                  <a:srgbClr val="00C2A8"/>
                </a:solidFill>
                <a:latin typeface="Calibri"/>
                <a:ea typeface="Calibri"/>
                <a:cs typeface="Calibri"/>
                <a:sym typeface="Calibri"/>
              </a:rPr>
              <a:t>FUTURE WORK</a:t>
            </a:r>
            <a:endParaRPr b="0" i="0" sz="1200" u="none" cap="none" strike="noStrike">
              <a:solidFill>
                <a:schemeClr val="dk1"/>
              </a:solidFill>
              <a:latin typeface="Calibri"/>
              <a:ea typeface="Calibri"/>
              <a:cs typeface="Calibri"/>
              <a:sym typeface="Calibri"/>
            </a:endParaRPr>
          </a:p>
        </p:txBody>
      </p:sp>
      <p:sp>
        <p:nvSpPr>
          <p:cNvPr id="419" name="Google Shape;419;p21"/>
          <p:cNvSpPr/>
          <p:nvPr/>
        </p:nvSpPr>
        <p:spPr>
          <a:xfrm>
            <a:off x="6766560" y="2514600"/>
            <a:ext cx="4663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Closing the Gap to State of the Art</a:t>
            </a:r>
            <a:endParaRPr b="0" i="0" sz="1800" u="none" cap="none" strike="noStrike">
              <a:solidFill>
                <a:schemeClr val="dk1"/>
              </a:solidFill>
              <a:latin typeface="Calibri"/>
              <a:ea typeface="Calibri"/>
              <a:cs typeface="Calibri"/>
              <a:sym typeface="Calibri"/>
            </a:endParaRPr>
          </a:p>
        </p:txBody>
      </p:sp>
      <p:sp>
        <p:nvSpPr>
          <p:cNvPr id="420" name="Google Shape;420;p21"/>
          <p:cNvSpPr/>
          <p:nvPr/>
        </p:nvSpPr>
        <p:spPr>
          <a:xfrm>
            <a:off x="6766560" y="3154680"/>
            <a:ext cx="466344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2A8"/>
              </a:buClr>
              <a:buSzPts val="1150"/>
              <a:buFont typeface="Calibri"/>
              <a:buNone/>
            </a:pPr>
            <a:r>
              <a:rPr b="1" i="0" lang="en-US" sz="1150" u="none" cap="none" strike="noStrike">
                <a:solidFill>
                  <a:srgbClr val="00C2A8"/>
                </a:solidFill>
                <a:latin typeface="Calibri"/>
                <a:ea typeface="Calibri"/>
                <a:cs typeface="Calibri"/>
                <a:sym typeface="Calibri"/>
              </a:rPr>
              <a:t>→  </a:t>
            </a:r>
            <a:r>
              <a:rPr b="0" i="0" lang="en-US" sz="1150" u="none" cap="none" strike="noStrike">
                <a:solidFill>
                  <a:srgbClr val="E6F1F7"/>
                </a:solidFill>
                <a:latin typeface="Calibri"/>
                <a:ea typeface="Calibri"/>
                <a:cs typeface="Calibri"/>
                <a:sym typeface="Calibri"/>
              </a:rPr>
              <a:t>Add skull stripping and ROI extraction preprocessing</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150"/>
              <a:buFont typeface="Calibri"/>
              <a:buNone/>
            </a:pPr>
            <a:r>
              <a:rPr b="1" i="0" lang="en-US" sz="1150" u="none" cap="none" strike="noStrike">
                <a:solidFill>
                  <a:srgbClr val="00C2A8"/>
                </a:solidFill>
                <a:latin typeface="Calibri"/>
                <a:ea typeface="Calibri"/>
                <a:cs typeface="Calibri"/>
                <a:sym typeface="Calibri"/>
              </a:rPr>
              <a:t>→  </a:t>
            </a:r>
            <a:r>
              <a:rPr b="0" i="0" lang="en-US" sz="1150" u="none" cap="none" strike="noStrike">
                <a:solidFill>
                  <a:srgbClr val="E6F1F7"/>
                </a:solidFill>
                <a:latin typeface="Calibri"/>
                <a:ea typeface="Calibri"/>
                <a:cs typeface="Calibri"/>
                <a:sym typeface="Calibri"/>
              </a:rPr>
              <a:t>Apply data augmentation (rotation, flips, elastic)</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150"/>
              <a:buFont typeface="Calibri"/>
              <a:buNone/>
            </a:pPr>
            <a:r>
              <a:rPr b="1" i="0" lang="en-US" sz="1150" u="none" cap="none" strike="noStrike">
                <a:solidFill>
                  <a:srgbClr val="00C2A8"/>
                </a:solidFill>
                <a:latin typeface="Calibri"/>
                <a:ea typeface="Calibri"/>
                <a:cs typeface="Calibri"/>
                <a:sym typeface="Calibri"/>
              </a:rPr>
              <a:t>→  </a:t>
            </a:r>
            <a:r>
              <a:rPr b="0" i="0" lang="en-US" sz="1150" u="none" cap="none" strike="noStrike">
                <a:solidFill>
                  <a:srgbClr val="E6F1F7"/>
                </a:solidFill>
                <a:latin typeface="Calibri"/>
                <a:ea typeface="Calibri"/>
                <a:cs typeface="Calibri"/>
                <a:sym typeface="Calibri"/>
              </a:rPr>
              <a:t>Fine-tune deeper layers of VGG16 instead of freezing</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150"/>
              <a:buFont typeface="Calibri"/>
              <a:buNone/>
            </a:pPr>
            <a:r>
              <a:rPr b="1" i="0" lang="en-US" sz="1150" u="none" cap="none" strike="noStrike">
                <a:solidFill>
                  <a:srgbClr val="00C2A8"/>
                </a:solidFill>
                <a:latin typeface="Calibri"/>
                <a:ea typeface="Calibri"/>
                <a:cs typeface="Calibri"/>
                <a:sym typeface="Calibri"/>
              </a:rPr>
              <a:t>→  </a:t>
            </a:r>
            <a:r>
              <a:rPr b="0" i="0" lang="en-US" sz="1150" u="none" cap="none" strike="noStrike">
                <a:solidFill>
                  <a:srgbClr val="E6F1F7"/>
                </a:solidFill>
                <a:latin typeface="Calibri"/>
                <a:ea typeface="Calibri"/>
                <a:cs typeface="Calibri"/>
                <a:sym typeface="Calibri"/>
              </a:rPr>
              <a:t>Test attention-augmented U-Net variants (CBAM)</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C2A8"/>
              </a:buClr>
              <a:buSzPts val="1150"/>
              <a:buFont typeface="Calibri"/>
              <a:buNone/>
            </a:pPr>
            <a:r>
              <a:rPr b="1" i="0" lang="en-US" sz="1150" u="none" cap="none" strike="noStrike">
                <a:solidFill>
                  <a:srgbClr val="00C2A8"/>
                </a:solidFill>
                <a:latin typeface="Calibri"/>
                <a:ea typeface="Calibri"/>
                <a:cs typeface="Calibri"/>
                <a:sym typeface="Calibri"/>
              </a:rPr>
              <a:t>→  </a:t>
            </a:r>
            <a:r>
              <a:rPr b="0" i="0" lang="en-US" sz="1150" u="none" cap="none" strike="noStrike">
                <a:solidFill>
                  <a:srgbClr val="E6F1F7"/>
                </a:solidFill>
                <a:latin typeface="Calibri"/>
                <a:ea typeface="Calibri"/>
                <a:cs typeface="Calibri"/>
                <a:sym typeface="Calibri"/>
              </a:rPr>
              <a:t>Train for more epochs with hyperparameter tuning</a:t>
            </a:r>
            <a:endParaRPr b="0" i="0" sz="1150" u="none" cap="none" strike="noStrike">
              <a:solidFill>
                <a:schemeClr val="dk1"/>
              </a:solidFill>
              <a:latin typeface="Calibri"/>
              <a:ea typeface="Calibri"/>
              <a:cs typeface="Calibri"/>
              <a:sym typeface="Calibri"/>
            </a:endParaRPr>
          </a:p>
        </p:txBody>
      </p:sp>
      <p:sp>
        <p:nvSpPr>
          <p:cNvPr id="421" name="Google Shape;421;p21"/>
          <p:cNvSpPr/>
          <p:nvPr/>
        </p:nvSpPr>
        <p:spPr>
          <a:xfrm>
            <a:off x="0" y="6537960"/>
            <a:ext cx="12161520" cy="320040"/>
          </a:xfrm>
          <a:prstGeom prst="rect">
            <a:avLst/>
          </a:prstGeom>
          <a:solidFill>
            <a:srgbClr val="0B1F3A"/>
          </a:solidFill>
          <a:ln cap="flat" cmpd="sng" w="12700">
            <a:solidFill>
              <a:srgbClr val="0B1F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1"/>
          <p:cNvSpPr/>
          <p:nvPr/>
        </p:nvSpPr>
        <p:spPr>
          <a:xfrm>
            <a:off x="0" y="6537960"/>
            <a:ext cx="457200" cy="32004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1"/>
          <p:cNvSpPr/>
          <p:nvPr/>
        </p:nvSpPr>
        <p:spPr>
          <a:xfrm>
            <a:off x="548640" y="653796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Brain MRI Segmentation &amp; Classification  |  Toronto Metropolitan University</a:t>
            </a:r>
            <a:endParaRPr b="0" i="0" sz="900" u="none" cap="none" strike="noStrike">
              <a:solidFill>
                <a:schemeClr val="dk1"/>
              </a:solidFill>
              <a:latin typeface="Calibri"/>
              <a:ea typeface="Calibri"/>
              <a:cs typeface="Calibri"/>
              <a:sym typeface="Calibri"/>
            </a:endParaRPr>
          </a:p>
        </p:txBody>
      </p:sp>
      <p:sp>
        <p:nvSpPr>
          <p:cNvPr id="424" name="Google Shape;424;p21"/>
          <p:cNvSpPr/>
          <p:nvPr/>
        </p:nvSpPr>
        <p:spPr>
          <a:xfrm>
            <a:off x="11521440" y="6537960"/>
            <a:ext cx="457200" cy="32004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6F1F7"/>
              </a:buClr>
              <a:buSzPts val="900"/>
              <a:buFont typeface="Calibri"/>
              <a:buNone/>
            </a:pPr>
            <a:r>
              <a:rPr b="0" i="0" lang="en-US" sz="900" u="none" cap="none" strike="noStrike">
                <a:solidFill>
                  <a:srgbClr val="E6F1F7"/>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A"/>
        </a:solidFill>
      </p:bgPr>
    </p:bg>
    <p:spTree>
      <p:nvGrpSpPr>
        <p:cNvPr id="429" name="Shape 429"/>
        <p:cNvGrpSpPr/>
        <p:nvPr/>
      </p:nvGrpSpPr>
      <p:grpSpPr>
        <a:xfrm>
          <a:off x="0" y="0"/>
          <a:ext cx="0" cy="0"/>
          <a:chOff x="0" y="0"/>
          <a:chExt cx="0" cy="0"/>
        </a:xfrm>
      </p:grpSpPr>
      <p:sp>
        <p:nvSpPr>
          <p:cNvPr id="430" name="Google Shape;430;p22"/>
          <p:cNvSpPr/>
          <p:nvPr/>
        </p:nvSpPr>
        <p:spPr>
          <a:xfrm>
            <a:off x="-2743200" y="-2743200"/>
            <a:ext cx="7315200" cy="7315200"/>
          </a:xfrm>
          <a:prstGeom prst="ellipse">
            <a:avLst/>
          </a:prstGeom>
          <a:solidFill>
            <a:srgbClr val="065A82">
              <a:alpha val="34901"/>
            </a:srgbClr>
          </a:solidFill>
          <a:ln cap="flat" cmpd="sng" w="12700">
            <a:solidFill>
              <a:srgbClr val="065A8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p:nvPr/>
        </p:nvSpPr>
        <p:spPr>
          <a:xfrm>
            <a:off x="8229600" y="2743200"/>
            <a:ext cx="6400800" cy="6400800"/>
          </a:xfrm>
          <a:prstGeom prst="ellipse">
            <a:avLst/>
          </a:prstGeom>
          <a:solidFill>
            <a:srgbClr val="1C7293">
              <a:alpha val="30196"/>
            </a:srgbClr>
          </a:solidFill>
          <a:ln cap="flat" cmpd="sng" w="12700">
            <a:solidFill>
              <a:srgbClr val="1C7293">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p:nvPr/>
        </p:nvSpPr>
        <p:spPr>
          <a:xfrm>
            <a:off x="0" y="0"/>
            <a:ext cx="457200" cy="6858000"/>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p:nvPr/>
        </p:nvSpPr>
        <p:spPr>
          <a:xfrm>
            <a:off x="914400" y="2560320"/>
            <a:ext cx="100584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000"/>
              <a:buFont typeface="Georgia"/>
              <a:buNone/>
            </a:pPr>
            <a:r>
              <a:rPr b="1" i="0" lang="en-US" sz="8000" u="none" cap="none" strike="noStrike">
                <a:solidFill>
                  <a:srgbClr val="FFFFFF"/>
                </a:solidFill>
                <a:latin typeface="Georgia"/>
                <a:ea typeface="Georgia"/>
                <a:cs typeface="Georgia"/>
                <a:sym typeface="Georgia"/>
              </a:rPr>
              <a:t>THANK YOU</a:t>
            </a:r>
            <a:endParaRPr b="0" i="0" sz="8000" u="none" cap="none" strike="noStrike">
              <a:solidFill>
                <a:schemeClr val="dk1"/>
              </a:solidFill>
              <a:latin typeface="Calibri"/>
              <a:ea typeface="Calibri"/>
              <a:cs typeface="Calibri"/>
              <a:sym typeface="Calibri"/>
            </a:endParaRPr>
          </a:p>
        </p:txBody>
      </p:sp>
      <p:sp>
        <p:nvSpPr>
          <p:cNvPr id="434" name="Google Shape;434;p22"/>
          <p:cNvSpPr/>
          <p:nvPr/>
        </p:nvSpPr>
        <p:spPr>
          <a:xfrm>
            <a:off x="914400" y="3886200"/>
            <a:ext cx="731520" cy="73152"/>
          </a:xfrm>
          <a:prstGeom prst="rect">
            <a:avLst/>
          </a:prstGeom>
          <a:solidFill>
            <a:srgbClr val="00C2A8"/>
          </a:solidFill>
          <a:ln cap="flat" cmpd="sng" w="12700">
            <a:solidFill>
              <a:srgbClr val="00C2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p:nvPr/>
        </p:nvSpPr>
        <p:spPr>
          <a:xfrm>
            <a:off x="914400" y="4023360"/>
            <a:ext cx="10058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2400"/>
              <a:buFont typeface="Georgia"/>
              <a:buNone/>
            </a:pPr>
            <a:r>
              <a:rPr b="0" i="1" lang="en-US" sz="2400" u="none" cap="none" strike="noStrike">
                <a:solidFill>
                  <a:srgbClr val="E6F1F7"/>
                </a:solidFill>
                <a:latin typeface="Georgia"/>
                <a:ea typeface="Georgia"/>
                <a:cs typeface="Georgia"/>
                <a:sym typeface="Georgia"/>
              </a:rPr>
              <a:t>Questions &amp; Discussion</a:t>
            </a:r>
            <a:endParaRPr b="0" i="0" sz="2400" u="none" cap="none" strike="noStrike">
              <a:solidFill>
                <a:schemeClr val="dk1"/>
              </a:solidFill>
              <a:latin typeface="Calibri"/>
              <a:ea typeface="Calibri"/>
              <a:cs typeface="Calibri"/>
              <a:sym typeface="Calibri"/>
            </a:endParaRPr>
          </a:p>
        </p:txBody>
      </p:sp>
      <p:sp>
        <p:nvSpPr>
          <p:cNvPr id="436" name="Google Shape;436;p22"/>
          <p:cNvSpPr/>
          <p:nvPr/>
        </p:nvSpPr>
        <p:spPr>
          <a:xfrm>
            <a:off x="914400" y="5852160"/>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F1F7"/>
              </a:buClr>
              <a:buSzPts val="1200"/>
              <a:buFont typeface="Calibri"/>
              <a:buNone/>
            </a:pPr>
            <a:r>
              <a:rPr b="0" i="0" lang="en-US" sz="1200" u="none" cap="none" strike="noStrike">
                <a:solidFill>
                  <a:srgbClr val="E6F1F7"/>
                </a:solidFill>
                <a:latin typeface="Calibri"/>
                <a:ea typeface="Calibri"/>
                <a:cs typeface="Calibri"/>
                <a:sym typeface="Calibri"/>
              </a:rPr>
              <a:t>Toronto Metropolitan University  •  Department of Electrical and Computer Engineering</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